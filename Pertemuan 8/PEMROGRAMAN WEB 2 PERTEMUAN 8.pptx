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6.xml" ContentType="application/vnd.openxmlformats-officedocument.theme+xml"/>
  <Override PartName="/ppt/slideLayouts/slideLayout13.xml" ContentType="application/vnd.openxmlformats-officedocument.presentationml.slideLayout+xml"/>
  <Override PartName="/ppt/theme/theme7.xml" ContentType="application/vnd.openxmlformats-officedocument.theme+xml"/>
  <Override PartName="/ppt/slideLayouts/slideLayout14.xml" ContentType="application/vnd.openxmlformats-officedocument.presentationml.slideLayout+xml"/>
  <Override PartName="/ppt/theme/theme8.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 id="2147483701" r:id="rId2"/>
    <p:sldMasterId id="2147483692" r:id="rId3"/>
    <p:sldMasterId id="2147483691" r:id="rId4"/>
    <p:sldMasterId id="2147483690" r:id="rId5"/>
    <p:sldMasterId id="2147483648" r:id="rId6"/>
    <p:sldMasterId id="2147483693" r:id="rId7"/>
    <p:sldMasterId id="2147483689" r:id="rId8"/>
  </p:sldMasterIdLst>
  <p:sldIdLst>
    <p:sldId id="258" r:id="rId9"/>
    <p:sldId id="273" r:id="rId10"/>
    <p:sldId id="274" r:id="rId11"/>
    <p:sldId id="283" r:id="rId12"/>
    <p:sldId id="289" r:id="rId13"/>
    <p:sldId id="284" r:id="rId14"/>
    <p:sldId id="290" r:id="rId15"/>
    <p:sldId id="291" r:id="rId16"/>
    <p:sldId id="275" r:id="rId17"/>
    <p:sldId id="292" r:id="rId18"/>
    <p:sldId id="293" r:id="rId19"/>
    <p:sldId id="294" r:id="rId20"/>
    <p:sldId id="295" r:id="rId21"/>
    <p:sldId id="296" r:id="rId22"/>
    <p:sldId id="297" r:id="rId23"/>
    <p:sldId id="269" r:id="rId24"/>
    <p:sldId id="270" r:id="rId25"/>
    <p:sldId id="27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4" d="100"/>
          <a:sy n="74" d="100"/>
        </p:scale>
        <p:origin x="-582"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slideMaster" Target="slideMasters/slideMaster3.xml"/><Relationship Id="rId21" Type="http://schemas.openxmlformats.org/officeDocument/2006/relationships/slide" Target="slides/slide13.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viewProps" Target="viewProps.xml"/><Relationship Id="rId10" Type="http://schemas.openxmlformats.org/officeDocument/2006/relationships/slide" Target="slides/slide2.xml"/><Relationship Id="rId19" Type="http://schemas.openxmlformats.org/officeDocument/2006/relationships/slide" Target="slides/slide11.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0EBA360-16FD-48D7-AA37-D01665392D4C}"/>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28820432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0EBA360-16FD-48D7-AA37-D01665392D4C}"/>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1258865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FD6A74D-1C8D-4400-A44B-18C61420D474}"/>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D"/>
          </a:p>
        </p:txBody>
      </p:sp>
    </p:spTree>
    <p:extLst>
      <p:ext uri="{BB962C8B-B14F-4D97-AF65-F5344CB8AC3E}">
        <p14:creationId xmlns:p14="http://schemas.microsoft.com/office/powerpoint/2010/main" val="416136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A4314F5-9B88-4A10-889F-F5ED679835B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D"/>
          </a:p>
        </p:txBody>
      </p:sp>
    </p:spTree>
    <p:extLst>
      <p:ext uri="{BB962C8B-B14F-4D97-AF65-F5344CB8AC3E}">
        <p14:creationId xmlns:p14="http://schemas.microsoft.com/office/powerpoint/2010/main" val="2386613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49F2F78-41F6-4DBD-A49B-20619A8622E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D"/>
          </a:p>
        </p:txBody>
      </p:sp>
    </p:spTree>
    <p:extLst>
      <p:ext uri="{BB962C8B-B14F-4D97-AF65-F5344CB8AC3E}">
        <p14:creationId xmlns:p14="http://schemas.microsoft.com/office/powerpoint/2010/main" val="3113582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2" name="Title 21">
            <a:extLst>
              <a:ext uri="{FF2B5EF4-FFF2-40B4-BE49-F238E27FC236}">
                <a16:creationId xmlns="" xmlns:a16="http://schemas.microsoft.com/office/drawing/2014/main" id="{198065A5-1218-4E69-9EF0-90C3C2E671DF}"/>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25134652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 xmlns:a16="http://schemas.microsoft.com/office/drawing/2014/main" id="{F916FA04-1396-485D-A609-CD7E92522DD1}"/>
              </a:ext>
            </a:extLst>
          </p:cNvPr>
          <p:cNvCxnSpPr>
            <a:cxnSpLocks/>
          </p:cNvCxnSpPr>
          <p:nvPr userDrawn="1"/>
        </p:nvCxnSpPr>
        <p:spPr>
          <a:xfrm>
            <a:off x="0" y="683288"/>
            <a:ext cx="6189785"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 xmlns:a16="http://schemas.microsoft.com/office/drawing/2014/main" id="{1FFC4A87-0CB1-45CE-9554-8F044AAEC6AC}"/>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3579677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 xmlns:a16="http://schemas.microsoft.com/office/drawing/2014/main" id="{F916FA04-1396-485D-A609-CD7E92522DD1}"/>
              </a:ext>
            </a:extLst>
          </p:cNvPr>
          <p:cNvCxnSpPr>
            <a:cxnSpLocks/>
          </p:cNvCxnSpPr>
          <p:nvPr userDrawn="1"/>
        </p:nvCxnSpPr>
        <p:spPr>
          <a:xfrm>
            <a:off x="6002215" y="683288"/>
            <a:ext cx="6189785"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F52A5D29-0C74-4DB5-80AC-205E2980DEB0}"/>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1347090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 xmlns:a16="http://schemas.microsoft.com/office/drawing/2014/main" id="{2A08D90C-70B8-457C-95AE-141C49C3A3FB}"/>
              </a:ext>
            </a:extLst>
          </p:cNvPr>
          <p:cNvCxnSpPr>
            <a:cxnSpLocks/>
          </p:cNvCxnSpPr>
          <p:nvPr userDrawn="1"/>
        </p:nvCxnSpPr>
        <p:spPr>
          <a:xfrm>
            <a:off x="0" y="683288"/>
            <a:ext cx="12192000"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4">
            <a:extLst>
              <a:ext uri="{FF2B5EF4-FFF2-40B4-BE49-F238E27FC236}">
                <a16:creationId xmlns="" xmlns:a16="http://schemas.microsoft.com/office/drawing/2014/main" id="{ABE849F3-B6DF-4217-B464-9130928C9C74}"/>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3732110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33BEC2E1-0AD8-452E-87EC-4D9066322202}"/>
              </a:ext>
            </a:extLst>
          </p:cNvPr>
          <p:cNvSpPr/>
          <p:nvPr userDrawn="1"/>
        </p:nvSpPr>
        <p:spPr>
          <a:xfrm>
            <a:off x="0" y="0"/>
            <a:ext cx="12192000" cy="1085222"/>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 name="Title 3">
            <a:extLst>
              <a:ext uri="{FF2B5EF4-FFF2-40B4-BE49-F238E27FC236}">
                <a16:creationId xmlns="" xmlns:a16="http://schemas.microsoft.com/office/drawing/2014/main" id="{22CC0ADF-8FA4-4472-9031-72E465CB401C}"/>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38976862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4EBE2D0A-6E5C-4A94-8EF1-D947C32EBE56}"/>
              </a:ext>
            </a:extLst>
          </p:cNvPr>
          <p:cNvSpPr/>
          <p:nvPr userDrawn="1"/>
        </p:nvSpPr>
        <p:spPr>
          <a:xfrm>
            <a:off x="0" y="80391"/>
            <a:ext cx="12192000" cy="633046"/>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 name="Title 3">
            <a:extLst>
              <a:ext uri="{FF2B5EF4-FFF2-40B4-BE49-F238E27FC236}">
                <a16:creationId xmlns="" xmlns:a16="http://schemas.microsoft.com/office/drawing/2014/main" id="{4898FCA4-6365-4601-85C8-B9BFB43B3CCD}"/>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8457647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6570B6C2-5A8A-40C2-AE98-493677E13A21}"/>
              </a:ext>
            </a:extLst>
          </p:cNvPr>
          <p:cNvSpPr/>
          <p:nvPr userDrawn="1"/>
        </p:nvSpPr>
        <p:spPr>
          <a:xfrm>
            <a:off x="0" y="60292"/>
            <a:ext cx="12192000" cy="45719"/>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Title 2">
            <a:extLst>
              <a:ext uri="{FF2B5EF4-FFF2-40B4-BE49-F238E27FC236}">
                <a16:creationId xmlns="" xmlns:a16="http://schemas.microsoft.com/office/drawing/2014/main" id="{10892BB0-7181-4898-96B3-7ABD572DA6F9}"/>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2962669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6C3B74E-CCD6-46A2-96AD-028888784453}"/>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513963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82CF78D-0AC0-4E71-8350-3BC2A8E43060}"/>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D"/>
          </a:p>
        </p:txBody>
      </p:sp>
    </p:spTree>
    <p:extLst>
      <p:ext uri="{BB962C8B-B14F-4D97-AF65-F5344CB8AC3E}">
        <p14:creationId xmlns:p14="http://schemas.microsoft.com/office/powerpoint/2010/main" val="341578502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3.xml"/><Relationship Id="rId1" Type="http://schemas.openxmlformats.org/officeDocument/2006/relationships/slideLayout" Target="../slideLayouts/slideLayout3.xml"/><Relationship Id="rId4" Type="http://schemas.openxmlformats.org/officeDocument/2006/relationships/image" Target="../media/image8.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4.xml"/><Relationship Id="rId1" Type="http://schemas.openxmlformats.org/officeDocument/2006/relationships/slideLayout" Target="../slideLayouts/slideLayout4.xml"/><Relationship Id="rId4" Type="http://schemas.openxmlformats.org/officeDocument/2006/relationships/image" Target="../media/image8.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5.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7.png"/></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10" Type="http://schemas.openxmlformats.org/officeDocument/2006/relationships/image" Target="../media/image8.png"/><Relationship Id="rId4" Type="http://schemas.openxmlformats.org/officeDocument/2006/relationships/slideLayout" Target="../slideLayouts/slideLayout9.xml"/><Relationship Id="rId9" Type="http://schemas.openxmlformats.org/officeDocument/2006/relationships/image" Target="../media/image7.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7.xml"/><Relationship Id="rId1" Type="http://schemas.openxmlformats.org/officeDocument/2006/relationships/slideLayout" Target="../slideLayouts/slideLayout13.xml"/><Relationship Id="rId4" Type="http://schemas.openxmlformats.org/officeDocument/2006/relationships/image" Target="../media/image2.png"/></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8.xml"/><Relationship Id="rId1" Type="http://schemas.openxmlformats.org/officeDocument/2006/relationships/slideLayout" Target="../slideLayouts/slideLayout14.xml"/><Relationship Id="rId5" Type="http://schemas.openxmlformats.org/officeDocument/2006/relationships/image" Target="../media/image8.png"/><Relationship Id="rId4" Type="http://schemas.openxmlformats.org/officeDocument/2006/relationships/image" Target="../media/image7.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 xmlns:a16="http://schemas.microsoft.com/office/drawing/2014/main" id="{F6310508-6870-44FB-B67F-C3F1350DB66D}"/>
              </a:ext>
            </a:extLst>
          </p:cNvPr>
          <p:cNvSpPr/>
          <p:nvPr userDrawn="1"/>
        </p:nvSpPr>
        <p:spPr>
          <a:xfrm>
            <a:off x="0" y="1"/>
            <a:ext cx="12192000" cy="120446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a:p>
            <a:pPr algn="ctr"/>
            <a:r>
              <a:rPr lang="en-US" sz="2000" dirty="0">
                <a:solidFill>
                  <a:schemeClr val="tx1"/>
                </a:solidFill>
              </a:rPr>
              <a:t> </a:t>
            </a:r>
            <a:endParaRPr lang="en-ID" sz="2000" dirty="0">
              <a:solidFill>
                <a:schemeClr val="tx1"/>
              </a:solidFill>
            </a:endParaRPr>
          </a:p>
        </p:txBody>
      </p:sp>
      <p:pic>
        <p:nvPicPr>
          <p:cNvPr id="11" name="Picture 10">
            <a:extLst>
              <a:ext uri="{FF2B5EF4-FFF2-40B4-BE49-F238E27FC236}">
                <a16:creationId xmlns="" xmlns:a16="http://schemas.microsoft.com/office/drawing/2014/main" id="{222E1FA6-9BAA-48F7-9B48-E78A7FC60C7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9642" y="38924"/>
            <a:ext cx="1119282" cy="1086491"/>
          </a:xfrm>
          <a:prstGeom prst="rect">
            <a:avLst/>
          </a:prstGeom>
        </p:spPr>
      </p:pic>
      <p:sp>
        <p:nvSpPr>
          <p:cNvPr id="2" name="TextBox 1">
            <a:extLst>
              <a:ext uri="{FF2B5EF4-FFF2-40B4-BE49-F238E27FC236}">
                <a16:creationId xmlns="" xmlns:a16="http://schemas.microsoft.com/office/drawing/2014/main" id="{6456D31B-DA89-4FCC-A0CF-973CBA8BD493}"/>
              </a:ext>
            </a:extLst>
          </p:cNvPr>
          <p:cNvSpPr txBox="1"/>
          <p:nvPr userDrawn="1"/>
        </p:nvSpPr>
        <p:spPr>
          <a:xfrm>
            <a:off x="1218924" y="166670"/>
            <a:ext cx="5886103" cy="830997"/>
          </a:xfrm>
          <a:prstGeom prst="rect">
            <a:avLst/>
          </a:prstGeom>
          <a:noFill/>
        </p:spPr>
        <p:txBody>
          <a:bodyPr wrap="square" rtlCol="0">
            <a:spAutoFit/>
          </a:bodyPr>
          <a:lstStyle/>
          <a:p>
            <a:pPr algn="just"/>
            <a:r>
              <a:rPr lang="en-US" sz="2400" dirty="0"/>
              <a:t>PROGRAM STUDI S1 TEKNIK INFORMATIKA</a:t>
            </a:r>
            <a:br>
              <a:rPr lang="en-US" sz="2400" dirty="0"/>
            </a:br>
            <a:r>
              <a:rPr lang="en-US" sz="2400" dirty="0"/>
              <a:t>UNIVERSITAS PAMULANG</a:t>
            </a:r>
            <a:endParaRPr lang="en-ID" sz="2400" dirty="0"/>
          </a:p>
        </p:txBody>
      </p:sp>
      <p:pic>
        <p:nvPicPr>
          <p:cNvPr id="5" name="Picture 4">
            <a:extLst>
              <a:ext uri="{FF2B5EF4-FFF2-40B4-BE49-F238E27FC236}">
                <a16:creationId xmlns="" xmlns:a16="http://schemas.microsoft.com/office/drawing/2014/main" id="{C960A43D-3921-41B8-B4DC-C239EAEA847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048352" y="0"/>
            <a:ext cx="2143648" cy="1205802"/>
          </a:xfrm>
          <a:prstGeom prst="rect">
            <a:avLst/>
          </a:prstGeom>
        </p:spPr>
      </p:pic>
      <p:sp>
        <p:nvSpPr>
          <p:cNvPr id="6" name="Title Placeholder 5">
            <a:extLst>
              <a:ext uri="{FF2B5EF4-FFF2-40B4-BE49-F238E27FC236}">
                <a16:creationId xmlns="" xmlns:a16="http://schemas.microsoft.com/office/drawing/2014/main" id="{36AE1D4B-E2EF-47C4-A1A7-5689711E6FCE}"/>
              </a:ext>
            </a:extLst>
          </p:cNvPr>
          <p:cNvSpPr>
            <a:spLocks noGrp="1"/>
          </p:cNvSpPr>
          <p:nvPr>
            <p:ph type="title"/>
          </p:nvPr>
        </p:nvSpPr>
        <p:spPr>
          <a:xfrm>
            <a:off x="838200" y="1204467"/>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Flowchart: Process 2">
            <a:extLst>
              <a:ext uri="{FF2B5EF4-FFF2-40B4-BE49-F238E27FC236}">
                <a16:creationId xmlns="" xmlns:a16="http://schemas.microsoft.com/office/drawing/2014/main" id="{59788E57-52DB-4E2B-A81F-D18E71DA02CB}"/>
              </a:ext>
            </a:extLst>
          </p:cNvPr>
          <p:cNvSpPr/>
          <p:nvPr userDrawn="1"/>
        </p:nvSpPr>
        <p:spPr>
          <a:xfrm>
            <a:off x="0" y="6360607"/>
            <a:ext cx="12192000" cy="497393"/>
          </a:xfrm>
          <a:prstGeom prst="flowChartProcess">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8" name="Picture 7">
            <a:extLst>
              <a:ext uri="{FF2B5EF4-FFF2-40B4-BE49-F238E27FC236}">
                <a16:creationId xmlns="" xmlns:a16="http://schemas.microsoft.com/office/drawing/2014/main" id="{EE8BF5A5-79AC-4428-A4CF-F44278AA4D6F}"/>
              </a:ext>
            </a:extLst>
          </p:cNvPr>
          <p:cNvPicPr>
            <a:picLocks noChangeAspect="1"/>
          </p:cNvPicPr>
          <p:nvPr userDrawn="1"/>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047255" y="6422940"/>
            <a:ext cx="453018" cy="439110"/>
          </a:xfrm>
          <a:prstGeom prst="rect">
            <a:avLst/>
          </a:prstGeom>
        </p:spPr>
      </p:pic>
      <p:pic>
        <p:nvPicPr>
          <p:cNvPr id="12" name="Picture 11">
            <a:extLst>
              <a:ext uri="{FF2B5EF4-FFF2-40B4-BE49-F238E27FC236}">
                <a16:creationId xmlns="" xmlns:a16="http://schemas.microsoft.com/office/drawing/2014/main" id="{0F13C787-49DC-45B2-99DA-FD9DF4541EF2}"/>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99642" y="6419057"/>
            <a:ext cx="380491" cy="380491"/>
          </a:xfrm>
          <a:prstGeom prst="rect">
            <a:avLst/>
          </a:prstGeom>
        </p:spPr>
      </p:pic>
      <p:sp>
        <p:nvSpPr>
          <p:cNvPr id="13" name="TextBox 12">
            <a:extLst>
              <a:ext uri="{FF2B5EF4-FFF2-40B4-BE49-F238E27FC236}">
                <a16:creationId xmlns="" xmlns:a16="http://schemas.microsoft.com/office/drawing/2014/main" id="{AC0EC3BD-0F33-4AAF-A3A2-953764A0D99A}"/>
              </a:ext>
            </a:extLst>
          </p:cNvPr>
          <p:cNvSpPr txBox="1"/>
          <p:nvPr userDrawn="1"/>
        </p:nvSpPr>
        <p:spPr>
          <a:xfrm>
            <a:off x="480133" y="6412026"/>
            <a:ext cx="1793631" cy="369332"/>
          </a:xfrm>
          <a:prstGeom prst="rect">
            <a:avLst/>
          </a:prstGeom>
          <a:noFill/>
        </p:spPr>
        <p:txBody>
          <a:bodyPr wrap="square" rtlCol="0">
            <a:spAutoFit/>
          </a:bodyPr>
          <a:lstStyle/>
          <a:p>
            <a:r>
              <a:rPr lang="en-US" dirty="0" err="1"/>
              <a:t>InfoTI_unpam</a:t>
            </a:r>
            <a:endParaRPr lang="en-ID" dirty="0"/>
          </a:p>
        </p:txBody>
      </p:sp>
      <p:sp>
        <p:nvSpPr>
          <p:cNvPr id="14" name="TextBox 13">
            <a:extLst>
              <a:ext uri="{FF2B5EF4-FFF2-40B4-BE49-F238E27FC236}">
                <a16:creationId xmlns="" xmlns:a16="http://schemas.microsoft.com/office/drawing/2014/main" id="{60CFA357-EB7B-4C90-B08D-FF68109B966A}"/>
              </a:ext>
            </a:extLst>
          </p:cNvPr>
          <p:cNvSpPr txBox="1"/>
          <p:nvPr userDrawn="1"/>
        </p:nvSpPr>
        <p:spPr>
          <a:xfrm>
            <a:off x="2527388" y="6412026"/>
            <a:ext cx="2697755" cy="369332"/>
          </a:xfrm>
          <a:prstGeom prst="rect">
            <a:avLst/>
          </a:prstGeom>
          <a:noFill/>
        </p:spPr>
        <p:txBody>
          <a:bodyPr wrap="square" rtlCol="0">
            <a:spAutoFit/>
          </a:bodyPr>
          <a:lstStyle/>
          <a:p>
            <a:r>
              <a:rPr lang="en-US" dirty="0"/>
              <a:t>informatika.unpam.ac.id</a:t>
            </a:r>
            <a:endParaRPr lang="en-ID" dirty="0"/>
          </a:p>
        </p:txBody>
      </p:sp>
      <p:pic>
        <p:nvPicPr>
          <p:cNvPr id="16" name="Picture 15">
            <a:extLst>
              <a:ext uri="{FF2B5EF4-FFF2-40B4-BE49-F238E27FC236}">
                <a16:creationId xmlns="" xmlns:a16="http://schemas.microsoft.com/office/drawing/2014/main" id="{C10FF8DC-21DB-400A-A27F-9751868D2AFC}"/>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1443996" y="6412026"/>
            <a:ext cx="648362" cy="458733"/>
          </a:xfrm>
          <a:prstGeom prst="rect">
            <a:avLst/>
          </a:prstGeom>
        </p:spPr>
      </p:pic>
    </p:spTree>
    <p:extLst>
      <p:ext uri="{BB962C8B-B14F-4D97-AF65-F5344CB8AC3E}">
        <p14:creationId xmlns:p14="http://schemas.microsoft.com/office/powerpoint/2010/main" val="2881310249"/>
      </p:ext>
    </p:extLst>
  </p:cSld>
  <p:clrMap bg1="lt1" tx1="dk1" bg2="lt2" tx2="dk2" accent1="accent1" accent2="accent2" accent3="accent3" accent4="accent4" accent5="accent5" accent6="accent6" hlink="hlink" folHlink="folHlink"/>
  <p:sldLayoutIdLst>
    <p:sldLayoutId id="214748369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5">
            <a:extLst>
              <a:ext uri="{FF2B5EF4-FFF2-40B4-BE49-F238E27FC236}">
                <a16:creationId xmlns="" xmlns:a16="http://schemas.microsoft.com/office/drawing/2014/main" id="{36AE1D4B-E2EF-47C4-A1A7-5689711E6FCE}"/>
              </a:ext>
            </a:extLst>
          </p:cNvPr>
          <p:cNvSpPr>
            <a:spLocks noGrp="1"/>
          </p:cNvSpPr>
          <p:nvPr>
            <p:ph type="title"/>
          </p:nvPr>
        </p:nvSpPr>
        <p:spPr>
          <a:xfrm>
            <a:off x="838200" y="1204467"/>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Flowchart: Process 2">
            <a:extLst>
              <a:ext uri="{FF2B5EF4-FFF2-40B4-BE49-F238E27FC236}">
                <a16:creationId xmlns="" xmlns:a16="http://schemas.microsoft.com/office/drawing/2014/main" id="{59788E57-52DB-4E2B-A81F-D18E71DA02CB}"/>
              </a:ext>
            </a:extLst>
          </p:cNvPr>
          <p:cNvSpPr/>
          <p:nvPr userDrawn="1"/>
        </p:nvSpPr>
        <p:spPr>
          <a:xfrm>
            <a:off x="0" y="6360607"/>
            <a:ext cx="12192000" cy="497393"/>
          </a:xfrm>
          <a:prstGeom prst="flowChartProcess">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8" name="Picture 7">
            <a:extLst>
              <a:ext uri="{FF2B5EF4-FFF2-40B4-BE49-F238E27FC236}">
                <a16:creationId xmlns="" xmlns:a16="http://schemas.microsoft.com/office/drawing/2014/main" id="{EE8BF5A5-79AC-4428-A4CF-F44278AA4D6F}"/>
              </a:ext>
            </a:extLst>
          </p:cNvPr>
          <p:cNvPicPr>
            <a:picLocks noChangeAspect="1"/>
          </p:cNvPicPr>
          <p:nvPr userDrawn="1"/>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047255" y="6422940"/>
            <a:ext cx="453018" cy="439110"/>
          </a:xfrm>
          <a:prstGeom prst="rect">
            <a:avLst/>
          </a:prstGeom>
        </p:spPr>
      </p:pic>
      <p:pic>
        <p:nvPicPr>
          <p:cNvPr id="12" name="Picture 11">
            <a:extLst>
              <a:ext uri="{FF2B5EF4-FFF2-40B4-BE49-F238E27FC236}">
                <a16:creationId xmlns="" xmlns:a16="http://schemas.microsoft.com/office/drawing/2014/main" id="{0F13C787-49DC-45B2-99DA-FD9DF4541EF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9642" y="6419057"/>
            <a:ext cx="380491" cy="380491"/>
          </a:xfrm>
          <a:prstGeom prst="rect">
            <a:avLst/>
          </a:prstGeom>
        </p:spPr>
      </p:pic>
      <p:sp>
        <p:nvSpPr>
          <p:cNvPr id="13" name="TextBox 12">
            <a:extLst>
              <a:ext uri="{FF2B5EF4-FFF2-40B4-BE49-F238E27FC236}">
                <a16:creationId xmlns="" xmlns:a16="http://schemas.microsoft.com/office/drawing/2014/main" id="{AC0EC3BD-0F33-4AAF-A3A2-953764A0D99A}"/>
              </a:ext>
            </a:extLst>
          </p:cNvPr>
          <p:cNvSpPr txBox="1"/>
          <p:nvPr userDrawn="1"/>
        </p:nvSpPr>
        <p:spPr>
          <a:xfrm>
            <a:off x="480133" y="6412026"/>
            <a:ext cx="1793631" cy="369332"/>
          </a:xfrm>
          <a:prstGeom prst="rect">
            <a:avLst/>
          </a:prstGeom>
          <a:noFill/>
        </p:spPr>
        <p:txBody>
          <a:bodyPr wrap="square" rtlCol="0">
            <a:spAutoFit/>
          </a:bodyPr>
          <a:lstStyle/>
          <a:p>
            <a:r>
              <a:rPr lang="en-US" dirty="0" err="1"/>
              <a:t>InfoTI_unpam</a:t>
            </a:r>
            <a:endParaRPr lang="en-ID" dirty="0"/>
          </a:p>
        </p:txBody>
      </p:sp>
      <p:sp>
        <p:nvSpPr>
          <p:cNvPr id="14" name="TextBox 13">
            <a:extLst>
              <a:ext uri="{FF2B5EF4-FFF2-40B4-BE49-F238E27FC236}">
                <a16:creationId xmlns="" xmlns:a16="http://schemas.microsoft.com/office/drawing/2014/main" id="{60CFA357-EB7B-4C90-B08D-FF68109B966A}"/>
              </a:ext>
            </a:extLst>
          </p:cNvPr>
          <p:cNvSpPr txBox="1"/>
          <p:nvPr userDrawn="1"/>
        </p:nvSpPr>
        <p:spPr>
          <a:xfrm>
            <a:off x="2527388" y="6412026"/>
            <a:ext cx="2697755" cy="369332"/>
          </a:xfrm>
          <a:prstGeom prst="rect">
            <a:avLst/>
          </a:prstGeom>
          <a:noFill/>
        </p:spPr>
        <p:txBody>
          <a:bodyPr wrap="square" rtlCol="0">
            <a:spAutoFit/>
          </a:bodyPr>
          <a:lstStyle/>
          <a:p>
            <a:r>
              <a:rPr lang="en-US" dirty="0"/>
              <a:t>informatika.unpam.ac.id</a:t>
            </a:r>
            <a:endParaRPr lang="en-ID" dirty="0"/>
          </a:p>
        </p:txBody>
      </p:sp>
      <p:pic>
        <p:nvPicPr>
          <p:cNvPr id="16" name="Picture 15">
            <a:extLst>
              <a:ext uri="{FF2B5EF4-FFF2-40B4-BE49-F238E27FC236}">
                <a16:creationId xmlns="" xmlns:a16="http://schemas.microsoft.com/office/drawing/2014/main" id="{C10FF8DC-21DB-400A-A27F-9751868D2AFC}"/>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1443996" y="6412026"/>
            <a:ext cx="648362" cy="458733"/>
          </a:xfrm>
          <a:prstGeom prst="rect">
            <a:avLst/>
          </a:prstGeom>
        </p:spPr>
      </p:pic>
      <p:pic>
        <p:nvPicPr>
          <p:cNvPr id="15" name="Picture 14">
            <a:extLst>
              <a:ext uri="{FF2B5EF4-FFF2-40B4-BE49-F238E27FC236}">
                <a16:creationId xmlns="" xmlns:a16="http://schemas.microsoft.com/office/drawing/2014/main" id="{70E9772E-AF4F-4C17-B477-D78352308CB6}"/>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931590" y="6366986"/>
            <a:ext cx="512406" cy="497394"/>
          </a:xfrm>
          <a:prstGeom prst="rect">
            <a:avLst/>
          </a:prstGeom>
        </p:spPr>
      </p:pic>
    </p:spTree>
    <p:extLst>
      <p:ext uri="{BB962C8B-B14F-4D97-AF65-F5344CB8AC3E}">
        <p14:creationId xmlns:p14="http://schemas.microsoft.com/office/powerpoint/2010/main" val="1391861668"/>
      </p:ext>
    </p:extLst>
  </p:cSld>
  <p:clrMap bg1="lt1" tx1="dk1" bg2="lt2" tx2="dk2" accent1="accent1" accent2="accent2" accent3="accent3" accent4="accent4" accent5="accent5" accent6="accent6" hlink="hlink" folHlink="folHlink"/>
  <p:sldLayoutIdLst>
    <p:sldLayoutId id="214748370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ight Triangle 8">
            <a:extLst>
              <a:ext uri="{FF2B5EF4-FFF2-40B4-BE49-F238E27FC236}">
                <a16:creationId xmlns="" xmlns:a16="http://schemas.microsoft.com/office/drawing/2014/main" id="{0FE1B4E5-ADBE-44E9-94B8-12353259E240}"/>
              </a:ext>
            </a:extLst>
          </p:cNvPr>
          <p:cNvSpPr/>
          <p:nvPr userDrawn="1"/>
        </p:nvSpPr>
        <p:spPr>
          <a:xfrm rot="16200000">
            <a:off x="10209964" y="4875960"/>
            <a:ext cx="1884065" cy="2080010"/>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a:extLst>
              <a:ext uri="{FF2B5EF4-FFF2-40B4-BE49-F238E27FC236}">
                <a16:creationId xmlns="" xmlns:a16="http://schemas.microsoft.com/office/drawing/2014/main" id="{F6310508-6870-44FB-B67F-C3F1350DB66D}"/>
              </a:ext>
            </a:extLst>
          </p:cNvPr>
          <p:cNvSpPr/>
          <p:nvPr userDrawn="1"/>
        </p:nvSpPr>
        <p:spPr>
          <a:xfrm>
            <a:off x="0" y="6211614"/>
            <a:ext cx="12192000" cy="64638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a:p>
            <a:pPr algn="ctr"/>
            <a:r>
              <a:rPr lang="en-US" sz="2000" dirty="0">
                <a:solidFill>
                  <a:schemeClr val="tx1"/>
                </a:solidFill>
              </a:rPr>
              <a:t>Program </a:t>
            </a:r>
            <a:r>
              <a:rPr lang="en-US" sz="2000" dirty="0" err="1">
                <a:solidFill>
                  <a:schemeClr val="tx1"/>
                </a:solidFill>
              </a:rPr>
              <a:t>Studi</a:t>
            </a:r>
            <a:r>
              <a:rPr lang="en-US" sz="2000" dirty="0">
                <a:solidFill>
                  <a:schemeClr val="tx1"/>
                </a:solidFill>
              </a:rPr>
              <a:t> Teknik </a:t>
            </a:r>
            <a:r>
              <a:rPr lang="en-US" sz="2000" dirty="0" err="1">
                <a:solidFill>
                  <a:schemeClr val="tx1"/>
                </a:solidFill>
              </a:rPr>
              <a:t>Informatika</a:t>
            </a:r>
            <a:r>
              <a:rPr lang="en-US" sz="2000" dirty="0">
                <a:solidFill>
                  <a:schemeClr val="tx1"/>
                </a:solidFill>
              </a:rPr>
              <a:t>, Universitas </a:t>
            </a:r>
            <a:r>
              <a:rPr lang="en-US" sz="2000" dirty="0" err="1">
                <a:solidFill>
                  <a:schemeClr val="tx1"/>
                </a:solidFill>
              </a:rPr>
              <a:t>Pamulang</a:t>
            </a:r>
            <a:endParaRPr lang="en-US" sz="2000" dirty="0">
              <a:solidFill>
                <a:schemeClr val="tx1"/>
              </a:solidFill>
            </a:endParaRPr>
          </a:p>
          <a:p>
            <a:pPr algn="ctr"/>
            <a:r>
              <a:rPr lang="en-US" sz="2000" dirty="0">
                <a:solidFill>
                  <a:schemeClr val="tx1"/>
                </a:solidFill>
              </a:rPr>
              <a:t> </a:t>
            </a:r>
            <a:endParaRPr lang="en-ID" sz="2000" dirty="0">
              <a:solidFill>
                <a:schemeClr val="tx1"/>
              </a:solidFill>
            </a:endParaRPr>
          </a:p>
        </p:txBody>
      </p:sp>
      <p:sp>
        <p:nvSpPr>
          <p:cNvPr id="8" name="Right Triangle 7">
            <a:extLst>
              <a:ext uri="{FF2B5EF4-FFF2-40B4-BE49-F238E27FC236}">
                <a16:creationId xmlns="" xmlns:a16="http://schemas.microsoft.com/office/drawing/2014/main" id="{4354D356-3AB9-4317-AD64-9733710C017F}"/>
              </a:ext>
            </a:extLst>
          </p:cNvPr>
          <p:cNvSpPr/>
          <p:nvPr userDrawn="1"/>
        </p:nvSpPr>
        <p:spPr>
          <a:xfrm>
            <a:off x="0" y="5074416"/>
            <a:ext cx="1597688" cy="1783584"/>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1" name="Picture 10">
            <a:extLst>
              <a:ext uri="{FF2B5EF4-FFF2-40B4-BE49-F238E27FC236}">
                <a16:creationId xmlns="" xmlns:a16="http://schemas.microsoft.com/office/drawing/2014/main" id="{222E1FA6-9BAA-48F7-9B48-E78A7FC60C7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099172" y="5725289"/>
            <a:ext cx="1042588" cy="1012044"/>
          </a:xfrm>
          <a:prstGeom prst="rect">
            <a:avLst/>
          </a:prstGeom>
        </p:spPr>
      </p:pic>
      <p:pic>
        <p:nvPicPr>
          <p:cNvPr id="16" name="Picture 15">
            <a:extLst>
              <a:ext uri="{FF2B5EF4-FFF2-40B4-BE49-F238E27FC236}">
                <a16:creationId xmlns="" xmlns:a16="http://schemas.microsoft.com/office/drawing/2014/main" id="{B1A5ABCE-DB0D-44E8-AF1B-A1F9AA2448C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20581" y="5864994"/>
            <a:ext cx="1403488" cy="993004"/>
          </a:xfrm>
          <a:prstGeom prst="rect">
            <a:avLst/>
          </a:prstGeom>
        </p:spPr>
      </p:pic>
      <p:sp>
        <p:nvSpPr>
          <p:cNvPr id="2" name="TextBox 1">
            <a:extLst>
              <a:ext uri="{FF2B5EF4-FFF2-40B4-BE49-F238E27FC236}">
                <a16:creationId xmlns="" xmlns:a16="http://schemas.microsoft.com/office/drawing/2014/main" id="{A7710A05-4BC0-4640-9166-A8A038BAD88C}"/>
              </a:ext>
            </a:extLst>
          </p:cNvPr>
          <p:cNvSpPr txBox="1"/>
          <p:nvPr userDrawn="1"/>
        </p:nvSpPr>
        <p:spPr>
          <a:xfrm>
            <a:off x="3898760" y="2622619"/>
            <a:ext cx="5194999" cy="923330"/>
          </a:xfrm>
          <a:prstGeom prst="rect">
            <a:avLst/>
          </a:prstGeom>
          <a:noFill/>
        </p:spPr>
        <p:txBody>
          <a:bodyPr wrap="square" rtlCol="0">
            <a:spAutoFit/>
          </a:bodyPr>
          <a:lstStyle/>
          <a:p>
            <a:r>
              <a:rPr lang="en-US" sz="5400" dirty="0"/>
              <a:t>TERIMA KASIH</a:t>
            </a:r>
            <a:endParaRPr lang="en-ID" sz="5400" dirty="0"/>
          </a:p>
        </p:txBody>
      </p:sp>
    </p:spTree>
    <p:extLst>
      <p:ext uri="{BB962C8B-B14F-4D97-AF65-F5344CB8AC3E}">
        <p14:creationId xmlns:p14="http://schemas.microsoft.com/office/powerpoint/2010/main" val="321173633"/>
      </p:ext>
    </p:extLst>
  </p:cSld>
  <p:clrMap bg1="lt1" tx1="dk1" bg2="lt2" tx2="dk2" accent1="accent1" accent2="accent2" accent3="accent3" accent4="accent4" accent5="accent5" accent6="accent6" hlink="hlink" folHlink="folHlink"/>
  <p:sldLayoutIdLst>
    <p:sldLayoutId id="214748369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ight Triangle 8">
            <a:extLst>
              <a:ext uri="{FF2B5EF4-FFF2-40B4-BE49-F238E27FC236}">
                <a16:creationId xmlns="" xmlns:a16="http://schemas.microsoft.com/office/drawing/2014/main" id="{0FE1B4E5-ADBE-44E9-94B8-12353259E240}"/>
              </a:ext>
            </a:extLst>
          </p:cNvPr>
          <p:cNvSpPr/>
          <p:nvPr userDrawn="1"/>
        </p:nvSpPr>
        <p:spPr>
          <a:xfrm rot="16200000">
            <a:off x="10209964" y="4875960"/>
            <a:ext cx="1884065" cy="2080010"/>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a:extLst>
              <a:ext uri="{FF2B5EF4-FFF2-40B4-BE49-F238E27FC236}">
                <a16:creationId xmlns="" xmlns:a16="http://schemas.microsoft.com/office/drawing/2014/main" id="{F6310508-6870-44FB-B67F-C3F1350DB66D}"/>
              </a:ext>
            </a:extLst>
          </p:cNvPr>
          <p:cNvSpPr/>
          <p:nvPr userDrawn="1"/>
        </p:nvSpPr>
        <p:spPr>
          <a:xfrm>
            <a:off x="0" y="6211614"/>
            <a:ext cx="12192000" cy="64638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a:p>
            <a:pPr algn="ctr"/>
            <a:r>
              <a:rPr lang="en-US" sz="2000" dirty="0">
                <a:solidFill>
                  <a:schemeClr val="tx1"/>
                </a:solidFill>
              </a:rPr>
              <a:t>Program </a:t>
            </a:r>
            <a:r>
              <a:rPr lang="en-US" sz="2000" dirty="0" err="1">
                <a:solidFill>
                  <a:schemeClr val="tx1"/>
                </a:solidFill>
              </a:rPr>
              <a:t>Studi</a:t>
            </a:r>
            <a:r>
              <a:rPr lang="en-US" sz="2000" dirty="0">
                <a:solidFill>
                  <a:schemeClr val="tx1"/>
                </a:solidFill>
              </a:rPr>
              <a:t> Teknik </a:t>
            </a:r>
            <a:r>
              <a:rPr lang="en-US" sz="2000" dirty="0" err="1">
                <a:solidFill>
                  <a:schemeClr val="tx1"/>
                </a:solidFill>
              </a:rPr>
              <a:t>Informatika</a:t>
            </a:r>
            <a:r>
              <a:rPr lang="en-US" sz="2000" dirty="0">
                <a:solidFill>
                  <a:schemeClr val="tx1"/>
                </a:solidFill>
              </a:rPr>
              <a:t>, Universitas </a:t>
            </a:r>
            <a:r>
              <a:rPr lang="en-US" sz="2000" dirty="0" err="1">
                <a:solidFill>
                  <a:schemeClr val="tx1"/>
                </a:solidFill>
              </a:rPr>
              <a:t>Pamulang</a:t>
            </a:r>
            <a:endParaRPr lang="en-US" sz="2000" dirty="0">
              <a:solidFill>
                <a:schemeClr val="tx1"/>
              </a:solidFill>
            </a:endParaRPr>
          </a:p>
          <a:p>
            <a:pPr algn="ctr"/>
            <a:r>
              <a:rPr lang="en-US" sz="2000" dirty="0">
                <a:solidFill>
                  <a:schemeClr val="tx1"/>
                </a:solidFill>
              </a:rPr>
              <a:t> </a:t>
            </a:r>
            <a:endParaRPr lang="en-ID" sz="2000" dirty="0">
              <a:solidFill>
                <a:schemeClr val="tx1"/>
              </a:solidFill>
            </a:endParaRPr>
          </a:p>
        </p:txBody>
      </p:sp>
      <p:sp>
        <p:nvSpPr>
          <p:cNvPr id="8" name="Right Triangle 7">
            <a:extLst>
              <a:ext uri="{FF2B5EF4-FFF2-40B4-BE49-F238E27FC236}">
                <a16:creationId xmlns="" xmlns:a16="http://schemas.microsoft.com/office/drawing/2014/main" id="{4354D356-3AB9-4317-AD64-9733710C017F}"/>
              </a:ext>
            </a:extLst>
          </p:cNvPr>
          <p:cNvSpPr/>
          <p:nvPr userDrawn="1"/>
        </p:nvSpPr>
        <p:spPr>
          <a:xfrm>
            <a:off x="0" y="5074416"/>
            <a:ext cx="1597688" cy="1783584"/>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1" name="Picture 10">
            <a:extLst>
              <a:ext uri="{FF2B5EF4-FFF2-40B4-BE49-F238E27FC236}">
                <a16:creationId xmlns="" xmlns:a16="http://schemas.microsoft.com/office/drawing/2014/main" id="{222E1FA6-9BAA-48F7-9B48-E78A7FC60C7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099172" y="5725289"/>
            <a:ext cx="1042588" cy="1012044"/>
          </a:xfrm>
          <a:prstGeom prst="rect">
            <a:avLst/>
          </a:prstGeom>
        </p:spPr>
      </p:pic>
      <p:pic>
        <p:nvPicPr>
          <p:cNvPr id="16" name="Picture 15">
            <a:extLst>
              <a:ext uri="{FF2B5EF4-FFF2-40B4-BE49-F238E27FC236}">
                <a16:creationId xmlns="" xmlns:a16="http://schemas.microsoft.com/office/drawing/2014/main" id="{B1A5ABCE-DB0D-44E8-AF1B-A1F9AA2448C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20581" y="5864994"/>
            <a:ext cx="1403488" cy="993004"/>
          </a:xfrm>
          <a:prstGeom prst="rect">
            <a:avLst/>
          </a:prstGeom>
        </p:spPr>
      </p:pic>
      <p:sp>
        <p:nvSpPr>
          <p:cNvPr id="6" name="Flowchart: Process 5">
            <a:extLst>
              <a:ext uri="{FF2B5EF4-FFF2-40B4-BE49-F238E27FC236}">
                <a16:creationId xmlns="" xmlns:a16="http://schemas.microsoft.com/office/drawing/2014/main" id="{38F377F8-55ED-4437-98B9-2D2AA5DD3B4A}"/>
              </a:ext>
            </a:extLst>
          </p:cNvPr>
          <p:cNvSpPr/>
          <p:nvPr userDrawn="1"/>
        </p:nvSpPr>
        <p:spPr>
          <a:xfrm>
            <a:off x="0" y="2582426"/>
            <a:ext cx="12192000" cy="646385"/>
          </a:xfrm>
          <a:prstGeom prst="flowChartProcess">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TERIMA KASIH, MAHASISWA TEKNIK INFORMATIKA UNGGUL, ANDA SUDAH BELAJAR DENGAN LUAR BIASA</a:t>
            </a:r>
            <a:endParaRPr lang="en-ID" dirty="0"/>
          </a:p>
        </p:txBody>
      </p:sp>
    </p:spTree>
    <p:extLst>
      <p:ext uri="{BB962C8B-B14F-4D97-AF65-F5344CB8AC3E}">
        <p14:creationId xmlns:p14="http://schemas.microsoft.com/office/powerpoint/2010/main" val="2973921547"/>
      </p:ext>
    </p:extLst>
  </p:cSld>
  <p:clrMap bg1="lt1" tx1="dk1" bg2="lt2" tx2="dk2" accent1="accent1" accent2="accent2" accent3="accent3" accent4="accent4" accent5="accent5" accent6="accent6" hlink="hlink" folHlink="folHlink"/>
  <p:sldLayoutIdLst>
    <p:sldLayoutId id="214748369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365A30DD-8BE8-42A1-85CC-D069AF516FB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57600" y="2057400"/>
            <a:ext cx="4876800" cy="2743200"/>
          </a:xfrm>
          <a:prstGeom prst="rect">
            <a:avLst/>
          </a:prstGeom>
        </p:spPr>
      </p:pic>
      <p:sp>
        <p:nvSpPr>
          <p:cNvPr id="9" name="Right Triangle 8">
            <a:extLst>
              <a:ext uri="{FF2B5EF4-FFF2-40B4-BE49-F238E27FC236}">
                <a16:creationId xmlns="" xmlns:a16="http://schemas.microsoft.com/office/drawing/2014/main" id="{0FE1B4E5-ADBE-44E9-94B8-12353259E240}"/>
              </a:ext>
            </a:extLst>
          </p:cNvPr>
          <p:cNvSpPr/>
          <p:nvPr userDrawn="1"/>
        </p:nvSpPr>
        <p:spPr>
          <a:xfrm rot="16200000">
            <a:off x="10209964" y="4875960"/>
            <a:ext cx="1884065" cy="2080010"/>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a:extLst>
              <a:ext uri="{FF2B5EF4-FFF2-40B4-BE49-F238E27FC236}">
                <a16:creationId xmlns="" xmlns:a16="http://schemas.microsoft.com/office/drawing/2014/main" id="{F6310508-6870-44FB-B67F-C3F1350DB66D}"/>
              </a:ext>
            </a:extLst>
          </p:cNvPr>
          <p:cNvSpPr/>
          <p:nvPr userDrawn="1"/>
        </p:nvSpPr>
        <p:spPr>
          <a:xfrm>
            <a:off x="0" y="6211614"/>
            <a:ext cx="12192000" cy="64638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a:p>
            <a:pPr algn="ctr"/>
            <a:r>
              <a:rPr lang="en-US" sz="2000" dirty="0">
                <a:solidFill>
                  <a:schemeClr val="tx1"/>
                </a:solidFill>
              </a:rPr>
              <a:t>Program </a:t>
            </a:r>
            <a:r>
              <a:rPr lang="en-US" sz="2000" dirty="0" err="1">
                <a:solidFill>
                  <a:schemeClr val="tx1"/>
                </a:solidFill>
              </a:rPr>
              <a:t>Studi</a:t>
            </a:r>
            <a:r>
              <a:rPr lang="en-US" sz="2000" dirty="0">
                <a:solidFill>
                  <a:schemeClr val="tx1"/>
                </a:solidFill>
              </a:rPr>
              <a:t> Teknik </a:t>
            </a:r>
            <a:r>
              <a:rPr lang="en-US" sz="2000" dirty="0" err="1">
                <a:solidFill>
                  <a:schemeClr val="tx1"/>
                </a:solidFill>
              </a:rPr>
              <a:t>Informatika</a:t>
            </a:r>
            <a:r>
              <a:rPr lang="en-US" sz="2000" dirty="0">
                <a:solidFill>
                  <a:schemeClr val="tx1"/>
                </a:solidFill>
              </a:rPr>
              <a:t>, Universitas </a:t>
            </a:r>
            <a:r>
              <a:rPr lang="en-US" sz="2000" dirty="0" err="1">
                <a:solidFill>
                  <a:schemeClr val="tx1"/>
                </a:solidFill>
              </a:rPr>
              <a:t>Pamulang</a:t>
            </a:r>
            <a:endParaRPr lang="en-US" sz="2000" dirty="0">
              <a:solidFill>
                <a:schemeClr val="tx1"/>
              </a:solidFill>
            </a:endParaRPr>
          </a:p>
          <a:p>
            <a:pPr algn="ctr"/>
            <a:r>
              <a:rPr lang="en-US" sz="2000" dirty="0">
                <a:solidFill>
                  <a:schemeClr val="tx1"/>
                </a:solidFill>
              </a:rPr>
              <a:t> </a:t>
            </a:r>
            <a:endParaRPr lang="en-ID" sz="2000" dirty="0">
              <a:solidFill>
                <a:schemeClr val="tx1"/>
              </a:solidFill>
            </a:endParaRPr>
          </a:p>
        </p:txBody>
      </p:sp>
      <p:sp>
        <p:nvSpPr>
          <p:cNvPr id="8" name="Right Triangle 7">
            <a:extLst>
              <a:ext uri="{FF2B5EF4-FFF2-40B4-BE49-F238E27FC236}">
                <a16:creationId xmlns="" xmlns:a16="http://schemas.microsoft.com/office/drawing/2014/main" id="{4354D356-3AB9-4317-AD64-9733710C017F}"/>
              </a:ext>
            </a:extLst>
          </p:cNvPr>
          <p:cNvSpPr/>
          <p:nvPr userDrawn="1"/>
        </p:nvSpPr>
        <p:spPr>
          <a:xfrm>
            <a:off x="0" y="5074416"/>
            <a:ext cx="1597688" cy="1783584"/>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1" name="Picture 10">
            <a:extLst>
              <a:ext uri="{FF2B5EF4-FFF2-40B4-BE49-F238E27FC236}">
                <a16:creationId xmlns="" xmlns:a16="http://schemas.microsoft.com/office/drawing/2014/main" id="{222E1FA6-9BAA-48F7-9B48-E78A7FC60C7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099172" y="5725289"/>
            <a:ext cx="1042588" cy="1012044"/>
          </a:xfrm>
          <a:prstGeom prst="rect">
            <a:avLst/>
          </a:prstGeom>
        </p:spPr>
      </p:pic>
      <p:pic>
        <p:nvPicPr>
          <p:cNvPr id="16" name="Picture 15">
            <a:extLst>
              <a:ext uri="{FF2B5EF4-FFF2-40B4-BE49-F238E27FC236}">
                <a16:creationId xmlns="" xmlns:a16="http://schemas.microsoft.com/office/drawing/2014/main" id="{B1A5ABCE-DB0D-44E8-AF1B-A1F9AA2448CF}"/>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20581" y="5864994"/>
            <a:ext cx="1403488" cy="993004"/>
          </a:xfrm>
          <a:prstGeom prst="rect">
            <a:avLst/>
          </a:prstGeom>
        </p:spPr>
      </p:pic>
      <p:sp>
        <p:nvSpPr>
          <p:cNvPr id="6" name="Flowchart: Process 5">
            <a:extLst>
              <a:ext uri="{FF2B5EF4-FFF2-40B4-BE49-F238E27FC236}">
                <a16:creationId xmlns="" xmlns:a16="http://schemas.microsoft.com/office/drawing/2014/main" id="{38F377F8-55ED-4437-98B9-2D2AA5DD3B4A}"/>
              </a:ext>
            </a:extLst>
          </p:cNvPr>
          <p:cNvSpPr/>
          <p:nvPr userDrawn="1"/>
        </p:nvSpPr>
        <p:spPr>
          <a:xfrm>
            <a:off x="0" y="0"/>
            <a:ext cx="12192000" cy="646385"/>
          </a:xfrm>
          <a:prstGeom prst="flowChartProcess">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TERIMA KASIH, MAHASISWA TEKNIK INFORMATIKA UNGGUL, ANDA SUDAH BELAJAR DENGAN LUAR BIASA</a:t>
            </a:r>
            <a:endParaRPr lang="en-ID" dirty="0"/>
          </a:p>
        </p:txBody>
      </p:sp>
    </p:spTree>
    <p:extLst>
      <p:ext uri="{BB962C8B-B14F-4D97-AF65-F5344CB8AC3E}">
        <p14:creationId xmlns:p14="http://schemas.microsoft.com/office/powerpoint/2010/main" val="2404665397"/>
      </p:ext>
    </p:extLst>
  </p:cSld>
  <p:clrMap bg1="lt1" tx1="dk1" bg2="lt2" tx2="dk2" accent1="accent1" accent2="accent2" accent3="accent3" accent4="accent4" accent5="accent5" accent6="accent6" hlink="hlink" folHlink="folHlink"/>
  <p:sldLayoutIdLst>
    <p:sldLayoutId id="214748369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ight Triangle 8">
            <a:extLst>
              <a:ext uri="{FF2B5EF4-FFF2-40B4-BE49-F238E27FC236}">
                <a16:creationId xmlns="" xmlns:a16="http://schemas.microsoft.com/office/drawing/2014/main" id="{0FE1B4E5-ADBE-44E9-94B8-12353259E240}"/>
              </a:ext>
            </a:extLst>
          </p:cNvPr>
          <p:cNvSpPr/>
          <p:nvPr userDrawn="1"/>
        </p:nvSpPr>
        <p:spPr>
          <a:xfrm rot="16200000">
            <a:off x="10209964" y="4875960"/>
            <a:ext cx="1884065" cy="2080010"/>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a:extLst>
              <a:ext uri="{FF2B5EF4-FFF2-40B4-BE49-F238E27FC236}">
                <a16:creationId xmlns="" xmlns:a16="http://schemas.microsoft.com/office/drawing/2014/main" id="{F6310508-6870-44FB-B67F-C3F1350DB66D}"/>
              </a:ext>
            </a:extLst>
          </p:cNvPr>
          <p:cNvSpPr/>
          <p:nvPr userDrawn="1"/>
        </p:nvSpPr>
        <p:spPr>
          <a:xfrm>
            <a:off x="0" y="6211614"/>
            <a:ext cx="12192000" cy="64638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a:p>
            <a:pPr algn="ctr"/>
            <a:r>
              <a:rPr lang="en-US" sz="2000" dirty="0">
                <a:solidFill>
                  <a:schemeClr val="tx1"/>
                </a:solidFill>
              </a:rPr>
              <a:t>Program </a:t>
            </a:r>
            <a:r>
              <a:rPr lang="en-US" sz="2000" dirty="0" err="1">
                <a:solidFill>
                  <a:schemeClr val="tx1"/>
                </a:solidFill>
              </a:rPr>
              <a:t>Studi</a:t>
            </a:r>
            <a:r>
              <a:rPr lang="en-US" sz="2000" dirty="0">
                <a:solidFill>
                  <a:schemeClr val="tx1"/>
                </a:solidFill>
              </a:rPr>
              <a:t> Teknik </a:t>
            </a:r>
            <a:r>
              <a:rPr lang="en-US" sz="2000" dirty="0" err="1">
                <a:solidFill>
                  <a:schemeClr val="tx1"/>
                </a:solidFill>
              </a:rPr>
              <a:t>Informatika</a:t>
            </a:r>
            <a:r>
              <a:rPr lang="en-US" sz="2000" dirty="0">
                <a:solidFill>
                  <a:schemeClr val="tx1"/>
                </a:solidFill>
              </a:rPr>
              <a:t>, Universitas </a:t>
            </a:r>
            <a:r>
              <a:rPr lang="en-US" sz="2000" dirty="0" err="1">
                <a:solidFill>
                  <a:schemeClr val="tx1"/>
                </a:solidFill>
              </a:rPr>
              <a:t>Pamulang</a:t>
            </a:r>
            <a:endParaRPr lang="en-US" sz="2000" dirty="0">
              <a:solidFill>
                <a:schemeClr val="tx1"/>
              </a:solidFill>
            </a:endParaRPr>
          </a:p>
          <a:p>
            <a:pPr algn="ctr"/>
            <a:r>
              <a:rPr lang="en-US" sz="2000" dirty="0">
                <a:solidFill>
                  <a:schemeClr val="tx1"/>
                </a:solidFill>
              </a:rPr>
              <a:t> </a:t>
            </a:r>
            <a:endParaRPr lang="en-ID" sz="2000" dirty="0">
              <a:solidFill>
                <a:schemeClr val="tx1"/>
              </a:solidFill>
            </a:endParaRPr>
          </a:p>
        </p:txBody>
      </p:sp>
      <p:sp>
        <p:nvSpPr>
          <p:cNvPr id="8" name="Right Triangle 7">
            <a:extLst>
              <a:ext uri="{FF2B5EF4-FFF2-40B4-BE49-F238E27FC236}">
                <a16:creationId xmlns="" xmlns:a16="http://schemas.microsoft.com/office/drawing/2014/main" id="{4354D356-3AB9-4317-AD64-9733710C017F}"/>
              </a:ext>
            </a:extLst>
          </p:cNvPr>
          <p:cNvSpPr/>
          <p:nvPr userDrawn="1"/>
        </p:nvSpPr>
        <p:spPr>
          <a:xfrm>
            <a:off x="0" y="5074416"/>
            <a:ext cx="1597688" cy="1783584"/>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1" name="Picture 10">
            <a:extLst>
              <a:ext uri="{FF2B5EF4-FFF2-40B4-BE49-F238E27FC236}">
                <a16:creationId xmlns="" xmlns:a16="http://schemas.microsoft.com/office/drawing/2014/main" id="{222E1FA6-9BAA-48F7-9B48-E78A7FC60C7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1099172" y="5725289"/>
            <a:ext cx="1042588" cy="1012044"/>
          </a:xfrm>
          <a:prstGeom prst="rect">
            <a:avLst/>
          </a:prstGeom>
        </p:spPr>
      </p:pic>
      <p:pic>
        <p:nvPicPr>
          <p:cNvPr id="16" name="Picture 15">
            <a:extLst>
              <a:ext uri="{FF2B5EF4-FFF2-40B4-BE49-F238E27FC236}">
                <a16:creationId xmlns="" xmlns:a16="http://schemas.microsoft.com/office/drawing/2014/main" id="{B1A5ABCE-DB0D-44E8-AF1B-A1F9AA2448CF}"/>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120581" y="5864994"/>
            <a:ext cx="1403488" cy="993004"/>
          </a:xfrm>
          <a:prstGeom prst="rect">
            <a:avLst/>
          </a:prstGeom>
        </p:spPr>
      </p:pic>
      <p:sp>
        <p:nvSpPr>
          <p:cNvPr id="34" name="Text Placeholder 33">
            <a:extLst>
              <a:ext uri="{FF2B5EF4-FFF2-40B4-BE49-F238E27FC236}">
                <a16:creationId xmlns="" xmlns:a16="http://schemas.microsoft.com/office/drawing/2014/main" id="{73922ECC-A830-4C03-9B45-AEB8C3D23C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
        <p:nvSpPr>
          <p:cNvPr id="35" name="Title Placeholder 34">
            <a:extLst>
              <a:ext uri="{FF2B5EF4-FFF2-40B4-BE49-F238E27FC236}">
                <a16:creationId xmlns="" xmlns:a16="http://schemas.microsoft.com/office/drawing/2014/main" id="{862CBB9D-7640-4DCE-8E7A-C98B9F67D6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Tree>
    <p:extLst>
      <p:ext uri="{BB962C8B-B14F-4D97-AF65-F5344CB8AC3E}">
        <p14:creationId xmlns:p14="http://schemas.microsoft.com/office/powerpoint/2010/main" val="38016205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85" r:id="rId3"/>
    <p:sldLayoutId id="2147483652" r:id="rId4"/>
    <p:sldLayoutId id="2147483651" r:id="rId5"/>
    <p:sldLayoutId id="2147483686" r:id="rId6"/>
    <p:sldLayoutId id="2147483687"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 xmlns:a16="http://schemas.microsoft.com/office/drawing/2014/main" id="{F6310508-6870-44FB-B67F-C3F1350DB66D}"/>
              </a:ext>
            </a:extLst>
          </p:cNvPr>
          <p:cNvSpPr/>
          <p:nvPr userDrawn="1"/>
        </p:nvSpPr>
        <p:spPr>
          <a:xfrm>
            <a:off x="0" y="1"/>
            <a:ext cx="12192000" cy="120446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a:p>
            <a:pPr algn="ctr"/>
            <a:r>
              <a:rPr lang="en-US" sz="2000" dirty="0">
                <a:solidFill>
                  <a:schemeClr val="tx1"/>
                </a:solidFill>
              </a:rPr>
              <a:t> </a:t>
            </a:r>
            <a:endParaRPr lang="en-ID" sz="2000" dirty="0">
              <a:solidFill>
                <a:schemeClr val="tx1"/>
              </a:solidFill>
            </a:endParaRPr>
          </a:p>
        </p:txBody>
      </p:sp>
      <p:pic>
        <p:nvPicPr>
          <p:cNvPr id="11" name="Picture 10">
            <a:extLst>
              <a:ext uri="{FF2B5EF4-FFF2-40B4-BE49-F238E27FC236}">
                <a16:creationId xmlns="" xmlns:a16="http://schemas.microsoft.com/office/drawing/2014/main" id="{222E1FA6-9BAA-48F7-9B48-E78A7FC60C7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9642" y="38924"/>
            <a:ext cx="1119282" cy="1086491"/>
          </a:xfrm>
          <a:prstGeom prst="rect">
            <a:avLst/>
          </a:prstGeom>
        </p:spPr>
      </p:pic>
      <p:sp>
        <p:nvSpPr>
          <p:cNvPr id="2" name="TextBox 1">
            <a:extLst>
              <a:ext uri="{FF2B5EF4-FFF2-40B4-BE49-F238E27FC236}">
                <a16:creationId xmlns="" xmlns:a16="http://schemas.microsoft.com/office/drawing/2014/main" id="{6456D31B-DA89-4FCC-A0CF-973CBA8BD493}"/>
              </a:ext>
            </a:extLst>
          </p:cNvPr>
          <p:cNvSpPr txBox="1"/>
          <p:nvPr userDrawn="1"/>
        </p:nvSpPr>
        <p:spPr>
          <a:xfrm>
            <a:off x="1218924" y="166670"/>
            <a:ext cx="5886103" cy="830997"/>
          </a:xfrm>
          <a:prstGeom prst="rect">
            <a:avLst/>
          </a:prstGeom>
          <a:noFill/>
        </p:spPr>
        <p:txBody>
          <a:bodyPr wrap="square" rtlCol="0">
            <a:spAutoFit/>
          </a:bodyPr>
          <a:lstStyle/>
          <a:p>
            <a:pPr algn="just"/>
            <a:r>
              <a:rPr lang="en-US" sz="2400" dirty="0"/>
              <a:t>PROGRAM STUDI S1 TEKNIK INFORMATIKA</a:t>
            </a:r>
            <a:br>
              <a:rPr lang="en-US" sz="2400" dirty="0"/>
            </a:br>
            <a:r>
              <a:rPr lang="en-US" sz="2400" dirty="0"/>
              <a:t>UNIVERSITAS PAMULANG</a:t>
            </a:r>
            <a:endParaRPr lang="en-ID" sz="2400" dirty="0"/>
          </a:p>
        </p:txBody>
      </p:sp>
      <p:pic>
        <p:nvPicPr>
          <p:cNvPr id="5" name="Picture 4">
            <a:extLst>
              <a:ext uri="{FF2B5EF4-FFF2-40B4-BE49-F238E27FC236}">
                <a16:creationId xmlns="" xmlns:a16="http://schemas.microsoft.com/office/drawing/2014/main" id="{C960A43D-3921-41B8-B4DC-C239EAEA847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048352" y="0"/>
            <a:ext cx="2143648" cy="1205802"/>
          </a:xfrm>
          <a:prstGeom prst="rect">
            <a:avLst/>
          </a:prstGeom>
        </p:spPr>
      </p:pic>
      <p:sp>
        <p:nvSpPr>
          <p:cNvPr id="6" name="Title Placeholder 5">
            <a:extLst>
              <a:ext uri="{FF2B5EF4-FFF2-40B4-BE49-F238E27FC236}">
                <a16:creationId xmlns="" xmlns:a16="http://schemas.microsoft.com/office/drawing/2014/main" id="{36AE1D4B-E2EF-47C4-A1A7-5689711E6FCE}"/>
              </a:ext>
            </a:extLst>
          </p:cNvPr>
          <p:cNvSpPr>
            <a:spLocks noGrp="1"/>
          </p:cNvSpPr>
          <p:nvPr>
            <p:ph type="title"/>
          </p:nvPr>
        </p:nvSpPr>
        <p:spPr>
          <a:xfrm>
            <a:off x="838200" y="1204467"/>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10" name="Text Placeholder 9">
            <a:extLst>
              <a:ext uri="{FF2B5EF4-FFF2-40B4-BE49-F238E27FC236}">
                <a16:creationId xmlns="" xmlns:a16="http://schemas.microsoft.com/office/drawing/2014/main" id="{3FA5E565-A9FD-45A9-9262-E4CE87B5C47A}"/>
              </a:ext>
            </a:extLst>
          </p:cNvPr>
          <p:cNvSpPr>
            <a:spLocks noGrp="1"/>
          </p:cNvSpPr>
          <p:nvPr>
            <p:ph type="body" idx="1"/>
          </p:nvPr>
        </p:nvSpPr>
        <p:spPr>
          <a:xfrm>
            <a:off x="838200" y="2329881"/>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Tree>
    <p:extLst>
      <p:ext uri="{BB962C8B-B14F-4D97-AF65-F5344CB8AC3E}">
        <p14:creationId xmlns:p14="http://schemas.microsoft.com/office/powerpoint/2010/main" val="440609619"/>
      </p:ext>
    </p:extLst>
  </p:cSld>
  <p:clrMap bg1="lt1" tx1="dk1" bg2="lt2" tx2="dk2" accent1="accent1" accent2="accent2" accent3="accent3" accent4="accent4" accent5="accent5" accent6="accent6" hlink="hlink" folHlink="folHlink"/>
  <p:sldLayoutIdLst>
    <p:sldLayoutId id="214748369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567122B0-D188-4F1B-9170-48FB515F7D1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Right Triangle 8">
            <a:extLst>
              <a:ext uri="{FF2B5EF4-FFF2-40B4-BE49-F238E27FC236}">
                <a16:creationId xmlns="" xmlns:a16="http://schemas.microsoft.com/office/drawing/2014/main" id="{0FE1B4E5-ADBE-44E9-94B8-12353259E240}"/>
              </a:ext>
            </a:extLst>
          </p:cNvPr>
          <p:cNvSpPr/>
          <p:nvPr userDrawn="1"/>
        </p:nvSpPr>
        <p:spPr>
          <a:xfrm rot="16200000">
            <a:off x="10209964" y="4875960"/>
            <a:ext cx="1884065" cy="2080010"/>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a:extLst>
              <a:ext uri="{FF2B5EF4-FFF2-40B4-BE49-F238E27FC236}">
                <a16:creationId xmlns="" xmlns:a16="http://schemas.microsoft.com/office/drawing/2014/main" id="{F6310508-6870-44FB-B67F-C3F1350DB66D}"/>
              </a:ext>
            </a:extLst>
          </p:cNvPr>
          <p:cNvSpPr/>
          <p:nvPr userDrawn="1"/>
        </p:nvSpPr>
        <p:spPr>
          <a:xfrm>
            <a:off x="0" y="6211614"/>
            <a:ext cx="12192000" cy="64638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a:p>
            <a:pPr algn="ctr"/>
            <a:r>
              <a:rPr lang="en-US" sz="2000" dirty="0">
                <a:solidFill>
                  <a:schemeClr val="tx1"/>
                </a:solidFill>
              </a:rPr>
              <a:t>Program </a:t>
            </a:r>
            <a:r>
              <a:rPr lang="en-US" sz="2000" dirty="0" err="1">
                <a:solidFill>
                  <a:schemeClr val="tx1"/>
                </a:solidFill>
              </a:rPr>
              <a:t>Studi</a:t>
            </a:r>
            <a:r>
              <a:rPr lang="en-US" sz="2000" dirty="0">
                <a:solidFill>
                  <a:schemeClr val="tx1"/>
                </a:solidFill>
              </a:rPr>
              <a:t> Teknik </a:t>
            </a:r>
            <a:r>
              <a:rPr lang="en-US" sz="2000" dirty="0" err="1">
                <a:solidFill>
                  <a:schemeClr val="tx1"/>
                </a:solidFill>
              </a:rPr>
              <a:t>Informatika</a:t>
            </a:r>
            <a:r>
              <a:rPr lang="en-US" sz="2000" dirty="0">
                <a:solidFill>
                  <a:schemeClr val="tx1"/>
                </a:solidFill>
              </a:rPr>
              <a:t>, Universitas </a:t>
            </a:r>
            <a:r>
              <a:rPr lang="en-US" sz="2000" dirty="0" err="1">
                <a:solidFill>
                  <a:schemeClr val="tx1"/>
                </a:solidFill>
              </a:rPr>
              <a:t>Pamulang</a:t>
            </a:r>
            <a:endParaRPr lang="en-US" sz="2000" dirty="0">
              <a:solidFill>
                <a:schemeClr val="tx1"/>
              </a:solidFill>
            </a:endParaRPr>
          </a:p>
          <a:p>
            <a:pPr algn="ctr"/>
            <a:r>
              <a:rPr lang="en-US" sz="2000" dirty="0">
                <a:solidFill>
                  <a:schemeClr val="tx1"/>
                </a:solidFill>
              </a:rPr>
              <a:t> </a:t>
            </a:r>
            <a:endParaRPr lang="en-ID" sz="2000" dirty="0">
              <a:solidFill>
                <a:schemeClr val="tx1"/>
              </a:solidFill>
            </a:endParaRPr>
          </a:p>
        </p:txBody>
      </p:sp>
      <p:sp>
        <p:nvSpPr>
          <p:cNvPr id="8" name="Right Triangle 7">
            <a:extLst>
              <a:ext uri="{FF2B5EF4-FFF2-40B4-BE49-F238E27FC236}">
                <a16:creationId xmlns="" xmlns:a16="http://schemas.microsoft.com/office/drawing/2014/main" id="{4354D356-3AB9-4317-AD64-9733710C017F}"/>
              </a:ext>
            </a:extLst>
          </p:cNvPr>
          <p:cNvSpPr/>
          <p:nvPr userDrawn="1"/>
        </p:nvSpPr>
        <p:spPr>
          <a:xfrm>
            <a:off x="0" y="5074416"/>
            <a:ext cx="1597688" cy="1783584"/>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1" name="Picture 10">
            <a:extLst>
              <a:ext uri="{FF2B5EF4-FFF2-40B4-BE49-F238E27FC236}">
                <a16:creationId xmlns="" xmlns:a16="http://schemas.microsoft.com/office/drawing/2014/main" id="{222E1FA6-9BAA-48F7-9B48-E78A7FC60C7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099172" y="5725289"/>
            <a:ext cx="1042588" cy="1012044"/>
          </a:xfrm>
          <a:prstGeom prst="rect">
            <a:avLst/>
          </a:prstGeom>
        </p:spPr>
      </p:pic>
      <p:pic>
        <p:nvPicPr>
          <p:cNvPr id="16" name="Picture 15">
            <a:extLst>
              <a:ext uri="{FF2B5EF4-FFF2-40B4-BE49-F238E27FC236}">
                <a16:creationId xmlns="" xmlns:a16="http://schemas.microsoft.com/office/drawing/2014/main" id="{B1A5ABCE-DB0D-44E8-AF1B-A1F9AA2448CF}"/>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20581" y="5864994"/>
            <a:ext cx="1403488" cy="993004"/>
          </a:xfrm>
          <a:prstGeom prst="rect">
            <a:avLst/>
          </a:prstGeom>
        </p:spPr>
      </p:pic>
    </p:spTree>
    <p:extLst>
      <p:ext uri="{BB962C8B-B14F-4D97-AF65-F5344CB8AC3E}">
        <p14:creationId xmlns:p14="http://schemas.microsoft.com/office/powerpoint/2010/main" val="4026085888"/>
      </p:ext>
    </p:extLst>
  </p:cSld>
  <p:clrMap bg1="lt1" tx1="dk1" bg2="lt2" tx2="dk2" accent1="accent1" accent2="accent2" accent3="accent3" accent4="accent4" accent5="accent5" accent6="accent6" hlink="hlink" folHlink="folHlink"/>
  <p:sldLayoutIdLst>
    <p:sldLayoutId id="214748370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xmlns="" id="{B8B3090F-55CA-48B6-AE9D-1026C3C1790C}"/>
              </a:ext>
            </a:extLst>
          </p:cNvPr>
          <p:cNvSpPr>
            <a:spLocks noGrp="1"/>
          </p:cNvSpPr>
          <p:nvPr>
            <p:ph type="title"/>
          </p:nvPr>
        </p:nvSpPr>
        <p:spPr>
          <a:xfrm>
            <a:off x="838200" y="3702993"/>
            <a:ext cx="10515600" cy="1325563"/>
          </a:xfrm>
        </p:spPr>
        <p:txBody>
          <a:bodyPr>
            <a:normAutofit fontScale="90000"/>
          </a:bodyPr>
          <a:lstStyle/>
          <a:p>
            <a:pPr algn="ctr"/>
            <a:r>
              <a:rPr lang="id-ID" b="1" dirty="0" smtClean="0"/>
              <a:t>PERTEMUAN  8</a:t>
            </a:r>
            <a:br>
              <a:rPr lang="id-ID" b="1" dirty="0" smtClean="0"/>
            </a:br>
            <a:r>
              <a:rPr lang="id-ID" b="1" dirty="0"/>
              <a:t>BAB VI  FUNCTION</a:t>
            </a:r>
            <a:br>
              <a:rPr lang="id-ID" b="1" dirty="0"/>
            </a:br>
            <a:r>
              <a:rPr lang="id-ID" b="1" dirty="0"/>
              <a:t/>
            </a:r>
            <a:br>
              <a:rPr lang="id-ID" b="1" dirty="0"/>
            </a:br>
            <a:endParaRPr lang="id-ID" b="1" dirty="0"/>
          </a:p>
        </p:txBody>
      </p:sp>
      <p:sp>
        <p:nvSpPr>
          <p:cNvPr id="7" name="Title 1">
            <a:extLst>
              <a:ext uri="{FF2B5EF4-FFF2-40B4-BE49-F238E27FC236}">
                <a16:creationId xmlns:a16="http://schemas.microsoft.com/office/drawing/2014/main" xmlns="" id="{B8B3090F-55CA-48B6-AE9D-1026C3C1790C}"/>
              </a:ext>
            </a:extLst>
          </p:cNvPr>
          <p:cNvSpPr txBox="1">
            <a:spLocks/>
          </p:cNvSpPr>
          <p:nvPr/>
        </p:nvSpPr>
        <p:spPr>
          <a:xfrm>
            <a:off x="990600" y="182051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d-ID" b="1" dirty="0" smtClean="0">
                <a:latin typeface="Algerian" panose="04020705040A02060702" pitchFamily="82" charset="0"/>
              </a:rPr>
              <a:t>PEMROGRAMAN WEB 2</a:t>
            </a:r>
            <a:br>
              <a:rPr lang="id-ID" b="1" dirty="0" smtClean="0">
                <a:latin typeface="Algerian" panose="04020705040A02060702" pitchFamily="82" charset="0"/>
              </a:rPr>
            </a:br>
            <a:endParaRPr lang="en-ID" dirty="0">
              <a:latin typeface="Algerian" panose="04020705040A02060702" pitchFamily="82" charset="0"/>
            </a:endParaRPr>
          </a:p>
        </p:txBody>
      </p:sp>
    </p:spTree>
    <p:extLst>
      <p:ext uri="{BB962C8B-B14F-4D97-AF65-F5344CB8AC3E}">
        <p14:creationId xmlns:p14="http://schemas.microsoft.com/office/powerpoint/2010/main" val="2007525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FC0503ED-9D61-454B-8EDA-5B50615338EB}"/>
              </a:ext>
            </a:extLst>
          </p:cNvPr>
          <p:cNvSpPr txBox="1">
            <a:spLocks/>
          </p:cNvSpPr>
          <p:nvPr/>
        </p:nvSpPr>
        <p:spPr>
          <a:xfrm>
            <a:off x="838200" y="-2122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id-ID" b="1" dirty="0"/>
              <a:t>6.1  Penulisan Function</a:t>
            </a:r>
          </a:p>
        </p:txBody>
      </p:sp>
      <p:sp>
        <p:nvSpPr>
          <p:cNvPr id="8" name="Rectangle 7"/>
          <p:cNvSpPr/>
          <p:nvPr/>
        </p:nvSpPr>
        <p:spPr>
          <a:xfrm>
            <a:off x="1107583" y="1532586"/>
            <a:ext cx="10457645" cy="3970318"/>
          </a:xfrm>
          <a:prstGeom prst="rect">
            <a:avLst/>
          </a:prstGeom>
        </p:spPr>
        <p:txBody>
          <a:bodyPr wrap="square">
            <a:spAutoFit/>
          </a:bodyPr>
          <a:lstStyle/>
          <a:p>
            <a:r>
              <a:rPr lang="id-ID" sz="3600" dirty="0"/>
              <a:t>Fungsi pada dasarnya terdiri dari blok-blok program yang dapat dipanggil, kemudian memasukkannya langsung ke dalam kode program utama, dan memanggil nama fungsinya.  Hal penting dari fungsi adalah fungsi dapat menerima value dari luar, atau dikenal dengan parameter, value ini kemudian dapat diolah dan hasilnya dapat digunakan di luar fungsi.</a:t>
            </a:r>
          </a:p>
        </p:txBody>
      </p:sp>
    </p:spTree>
    <p:extLst>
      <p:ext uri="{BB962C8B-B14F-4D97-AF65-F5344CB8AC3E}">
        <p14:creationId xmlns:p14="http://schemas.microsoft.com/office/powerpoint/2010/main" val="41432749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xmlns="" id="{FC0503ED-9D61-454B-8EDA-5B50615338EB}"/>
              </a:ext>
            </a:extLst>
          </p:cNvPr>
          <p:cNvSpPr txBox="1">
            <a:spLocks/>
          </p:cNvSpPr>
          <p:nvPr/>
        </p:nvSpPr>
        <p:spPr>
          <a:xfrm>
            <a:off x="838200" y="-615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id-ID" b="1" dirty="0"/>
              <a:t>Manfaat yang dapat diambil ketika menggunakan fungsi</a:t>
            </a:r>
            <a:endParaRPr lang="id-ID" b="1" dirty="0"/>
          </a:p>
        </p:txBody>
      </p:sp>
      <p:sp>
        <p:nvSpPr>
          <p:cNvPr id="4" name="Rectangle 1"/>
          <p:cNvSpPr>
            <a:spLocks noChangeArrowheads="1"/>
          </p:cNvSpPr>
          <p:nvPr/>
        </p:nvSpPr>
        <p:spPr bwMode="auto">
          <a:xfrm>
            <a:off x="419099" y="1702849"/>
            <a:ext cx="11353801"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lvl="0" indent="-514350" algn="just">
              <a:buAutoNum type="arabicPeriod"/>
            </a:pPr>
            <a:r>
              <a:rPr lang="id-ID" sz="3200" dirty="0" smtClean="0"/>
              <a:t>Kode </a:t>
            </a:r>
            <a:r>
              <a:rPr lang="id-ID" sz="3200" dirty="0"/>
              <a:t>program lebih mudah </a:t>
            </a:r>
            <a:r>
              <a:rPr lang="id-ID" sz="3200" dirty="0" smtClean="0"/>
              <a:t>dibaca </a:t>
            </a:r>
          </a:p>
          <a:p>
            <a:pPr marL="514350" lvl="0" indent="-514350" algn="just">
              <a:buAutoNum type="arabicPeriod"/>
            </a:pPr>
            <a:r>
              <a:rPr lang="id-ID" sz="3200" dirty="0" smtClean="0"/>
              <a:t>Jika </a:t>
            </a:r>
            <a:r>
              <a:rPr lang="id-ID" sz="3200" dirty="0"/>
              <a:t>terdapat kesalahan mudah </a:t>
            </a:r>
            <a:r>
              <a:rPr lang="id-ID" sz="3200" dirty="0" smtClean="0"/>
              <a:t>dikoreksi </a:t>
            </a:r>
          </a:p>
          <a:p>
            <a:pPr lvl="0" algn="just"/>
            <a:r>
              <a:rPr lang="id-ID" sz="3200" dirty="0" smtClean="0"/>
              <a:t>3. Perintah </a:t>
            </a:r>
            <a:r>
              <a:rPr lang="id-ID" sz="3200" dirty="0"/>
              <a:t>atau prosedur dalam program dapat langsung diubah dari fungsinya, tanpa harus mengubah program utama, dengan demikian akan meningkatkan efisiensi dalam membuat program.</a:t>
            </a:r>
          </a:p>
        </p:txBody>
      </p:sp>
    </p:spTree>
    <p:extLst>
      <p:ext uri="{BB962C8B-B14F-4D97-AF65-F5344CB8AC3E}">
        <p14:creationId xmlns:p14="http://schemas.microsoft.com/office/powerpoint/2010/main" val="7923484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xmlns="" id="{FC0503ED-9D61-454B-8EDA-5B50615338EB}"/>
              </a:ext>
            </a:extLst>
          </p:cNvPr>
          <p:cNvSpPr txBox="1">
            <a:spLocks/>
          </p:cNvSpPr>
          <p:nvPr/>
        </p:nvSpPr>
        <p:spPr>
          <a:xfrm>
            <a:off x="838200" y="-27661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id-ID" b="1" dirty="0"/>
              <a:t>Syarat memberikan nama fungsi :</a:t>
            </a:r>
            <a:endParaRPr lang="id-ID" dirty="0"/>
          </a:p>
        </p:txBody>
      </p:sp>
      <p:sp>
        <p:nvSpPr>
          <p:cNvPr id="3" name="Rectangle 2"/>
          <p:cNvSpPr/>
          <p:nvPr/>
        </p:nvSpPr>
        <p:spPr>
          <a:xfrm>
            <a:off x="463639" y="1048946"/>
            <a:ext cx="10212947" cy="4524315"/>
          </a:xfrm>
          <a:prstGeom prst="rect">
            <a:avLst/>
          </a:prstGeom>
        </p:spPr>
        <p:txBody>
          <a:bodyPr wrap="square">
            <a:spAutoFit/>
          </a:bodyPr>
          <a:lstStyle/>
          <a:p>
            <a:pPr marL="514350" lvl="0" indent="-514350">
              <a:buAutoNum type="arabicPeriod"/>
            </a:pPr>
            <a:r>
              <a:rPr lang="id-ID" sz="3200" dirty="0" smtClean="0"/>
              <a:t>Awali </a:t>
            </a:r>
            <a:r>
              <a:rPr lang="id-ID" sz="3200" dirty="0"/>
              <a:t>setiap pembuatan fungsi dengan kata </a:t>
            </a:r>
            <a:r>
              <a:rPr lang="id-ID" sz="3200" dirty="0" smtClean="0"/>
              <a:t>function</a:t>
            </a:r>
          </a:p>
          <a:p>
            <a:pPr marL="514350" indent="-514350">
              <a:buFontTx/>
              <a:buAutoNum type="arabicPeriod"/>
            </a:pPr>
            <a:r>
              <a:rPr lang="id-ID" sz="3200" dirty="0"/>
              <a:t>Tidak boleh sama dengan function yang telah ada dalam </a:t>
            </a:r>
            <a:r>
              <a:rPr lang="id-ID" sz="3200" dirty="0" smtClean="0"/>
              <a:t>PHP</a:t>
            </a:r>
          </a:p>
          <a:p>
            <a:pPr marL="514350" lvl="0" indent="-514350">
              <a:buFontTx/>
              <a:buAutoNum type="arabicPeriod"/>
            </a:pPr>
            <a:r>
              <a:rPr lang="id-ID" sz="3200" dirty="0"/>
              <a:t>Nama fungsi dapat berupa angka, huruf, garis bawah atau campuran antara huruf dan angka, namun huruf pertama tidak boleh angka</a:t>
            </a:r>
          </a:p>
          <a:p>
            <a:pPr marL="514350" lvl="0" indent="-514350">
              <a:buFontTx/>
              <a:buAutoNum type="arabicPeriod"/>
            </a:pPr>
            <a:r>
              <a:rPr lang="id-ID" sz="3200" dirty="0"/>
              <a:t>Tidak boleh diawali dengan angka</a:t>
            </a:r>
          </a:p>
          <a:p>
            <a:pPr marL="514350" lvl="0" indent="-514350">
              <a:buFontTx/>
              <a:buAutoNum type="arabicPeriod"/>
            </a:pPr>
            <a:r>
              <a:rPr lang="id-ID" sz="3200" dirty="0"/>
              <a:t>Penamaan fungsi tidak bersifat case sensitif</a:t>
            </a:r>
          </a:p>
          <a:p>
            <a:pPr marL="514350" indent="-514350">
              <a:buFontTx/>
              <a:buAutoNum type="arabicPeriod"/>
            </a:pPr>
            <a:endParaRPr lang="id-ID" sz="3200" dirty="0"/>
          </a:p>
        </p:txBody>
      </p:sp>
    </p:spTree>
    <p:extLst>
      <p:ext uri="{BB962C8B-B14F-4D97-AF65-F5344CB8AC3E}">
        <p14:creationId xmlns:p14="http://schemas.microsoft.com/office/powerpoint/2010/main" val="78589525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xmlns="" id="{FC0503ED-9D61-454B-8EDA-5B50615338EB}"/>
              </a:ext>
            </a:extLst>
          </p:cNvPr>
          <p:cNvSpPr txBox="1">
            <a:spLocks/>
          </p:cNvSpPr>
          <p:nvPr/>
        </p:nvSpPr>
        <p:spPr>
          <a:xfrm>
            <a:off x="838200" y="4535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id-ID" dirty="0"/>
              <a:t>Jenis fungi dalam PHP terbagi menjadi 3 jenis yaitu :</a:t>
            </a:r>
          </a:p>
        </p:txBody>
      </p:sp>
      <p:sp>
        <p:nvSpPr>
          <p:cNvPr id="3" name="Rectangle 2"/>
          <p:cNvSpPr/>
          <p:nvPr/>
        </p:nvSpPr>
        <p:spPr>
          <a:xfrm>
            <a:off x="463639" y="2220935"/>
            <a:ext cx="10212947" cy="2062103"/>
          </a:xfrm>
          <a:prstGeom prst="rect">
            <a:avLst/>
          </a:prstGeom>
        </p:spPr>
        <p:txBody>
          <a:bodyPr wrap="square">
            <a:spAutoFit/>
          </a:bodyPr>
          <a:lstStyle/>
          <a:p>
            <a:pPr marL="514350" lvl="0" indent="-514350">
              <a:buAutoNum type="arabicPeriod"/>
            </a:pPr>
            <a:r>
              <a:rPr lang="id-ID" sz="3200" dirty="0" smtClean="0"/>
              <a:t>Built-In</a:t>
            </a:r>
          </a:p>
          <a:p>
            <a:pPr marL="514350" indent="-514350">
              <a:buFontTx/>
              <a:buAutoNum type="arabicPeriod"/>
            </a:pPr>
            <a:r>
              <a:rPr lang="id-ID" sz="3200" dirty="0"/>
              <a:t>User Defined Function (UDF)</a:t>
            </a:r>
          </a:p>
          <a:p>
            <a:pPr marL="514350" indent="-514350">
              <a:buFontTx/>
              <a:buAutoNum type="arabicPeriod"/>
            </a:pPr>
            <a:r>
              <a:rPr lang="id-ID" sz="3200" dirty="0"/>
              <a:t>Eksternal</a:t>
            </a:r>
          </a:p>
          <a:p>
            <a:pPr marL="514350" lvl="0" indent="-514350">
              <a:buAutoNum type="arabicPeriod"/>
            </a:pPr>
            <a:endParaRPr lang="id-ID" sz="3200" dirty="0"/>
          </a:p>
        </p:txBody>
      </p:sp>
    </p:spTree>
    <p:extLst>
      <p:ext uri="{BB962C8B-B14F-4D97-AF65-F5344CB8AC3E}">
        <p14:creationId xmlns:p14="http://schemas.microsoft.com/office/powerpoint/2010/main" val="14126921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xmlns="" id="{FC0503ED-9D61-454B-8EDA-5B50615338EB}"/>
              </a:ext>
            </a:extLst>
          </p:cNvPr>
          <p:cNvSpPr txBox="1">
            <a:spLocks/>
          </p:cNvSpPr>
          <p:nvPr/>
        </p:nvSpPr>
        <p:spPr>
          <a:xfrm>
            <a:off x="838200" y="-27661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id-ID" b="1" dirty="0"/>
              <a:t>Fungsi Built-In</a:t>
            </a:r>
            <a:r>
              <a:rPr lang="id-ID" dirty="0"/>
              <a:t> </a:t>
            </a:r>
            <a:endParaRPr lang="id-ID" b="1" dirty="0"/>
          </a:p>
        </p:txBody>
      </p:sp>
      <p:sp>
        <p:nvSpPr>
          <p:cNvPr id="4" name="Rectangle 1"/>
          <p:cNvSpPr>
            <a:spLocks noChangeArrowheads="1"/>
          </p:cNvSpPr>
          <p:nvPr/>
        </p:nvSpPr>
        <p:spPr bwMode="auto">
          <a:xfrm>
            <a:off x="838199" y="927063"/>
            <a:ext cx="9298545"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id-ID" sz="2800" b="1" dirty="0"/>
              <a:t>Fungsi Built-In</a:t>
            </a:r>
            <a:r>
              <a:rPr lang="id-ID" sz="2800" dirty="0"/>
              <a:t> adalah fungsi yang sudah disediakan oleh PHP dan pemrogram dapat langsung memakainya, contoh fungsi ini adalah </a:t>
            </a:r>
            <a:r>
              <a:rPr lang="id-ID" sz="2800" dirty="0" smtClean="0"/>
              <a:t>:</a:t>
            </a:r>
          </a:p>
          <a:p>
            <a:endParaRPr lang="id-ID" sz="2800" dirty="0"/>
          </a:p>
          <a:p>
            <a:pPr marL="457200" lvl="0" indent="-457200">
              <a:buFont typeface="Wingdings" panose="05000000000000000000" pitchFamily="2" charset="2"/>
              <a:buChar char="ü"/>
            </a:pPr>
            <a:r>
              <a:rPr lang="id-ID" sz="2800" dirty="0"/>
              <a:t>Fungsi Matematik : sin, cos, tan, asin, dan sebagainya</a:t>
            </a:r>
          </a:p>
          <a:p>
            <a:pPr marL="457200" lvl="0" indent="-457200">
              <a:buFont typeface="Wingdings" panose="05000000000000000000" pitchFamily="2" charset="2"/>
              <a:buChar char="ü"/>
            </a:pPr>
            <a:r>
              <a:rPr lang="id-ID" sz="2800" dirty="0"/>
              <a:t>Fungsi Tanggal dan Waktu : date, checkdate</a:t>
            </a:r>
          </a:p>
          <a:p>
            <a:pPr marL="457200" lvl="0" indent="-457200">
              <a:buFont typeface="Wingdings" panose="05000000000000000000" pitchFamily="2" charset="2"/>
              <a:buChar char="ü"/>
            </a:pPr>
            <a:r>
              <a:rPr lang="id-ID" sz="2800" dirty="0"/>
              <a:t>Fungsi String : strlen, strpos, strtolower, strtoupperm substr, dan lain sebagainya</a:t>
            </a:r>
          </a:p>
        </p:txBody>
      </p:sp>
    </p:spTree>
    <p:extLst>
      <p:ext uri="{BB962C8B-B14F-4D97-AF65-F5344CB8AC3E}">
        <p14:creationId xmlns:p14="http://schemas.microsoft.com/office/powerpoint/2010/main" val="65395097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xmlns="" id="{FC0503ED-9D61-454B-8EDA-5B50615338EB}"/>
              </a:ext>
            </a:extLst>
          </p:cNvPr>
          <p:cNvSpPr txBox="1">
            <a:spLocks/>
          </p:cNvSpPr>
          <p:nvPr/>
        </p:nvSpPr>
        <p:spPr>
          <a:xfrm>
            <a:off x="838200" y="-27661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id-ID" b="1" dirty="0"/>
              <a:t>Fungsi UDF</a:t>
            </a:r>
            <a:r>
              <a:rPr lang="id-ID" dirty="0"/>
              <a:t> </a:t>
            </a:r>
            <a:endParaRPr lang="id-ID" b="1" dirty="0"/>
          </a:p>
        </p:txBody>
      </p:sp>
      <p:sp>
        <p:nvSpPr>
          <p:cNvPr id="4" name="Rectangle 1"/>
          <p:cNvSpPr>
            <a:spLocks noChangeArrowheads="1"/>
          </p:cNvSpPr>
          <p:nvPr/>
        </p:nvSpPr>
        <p:spPr bwMode="auto">
          <a:xfrm>
            <a:off x="838199" y="1696964"/>
            <a:ext cx="10108843"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id-ID" sz="3600" b="1" dirty="0"/>
              <a:t>Fungsi UDF</a:t>
            </a:r>
            <a:r>
              <a:rPr lang="id-ID" sz="3600" dirty="0"/>
              <a:t> merupakan fungsi yang dibuat sendiri oleh pemrogram.  </a:t>
            </a:r>
            <a:endParaRPr lang="id-ID" sz="3600" dirty="0" smtClean="0"/>
          </a:p>
          <a:p>
            <a:pPr algn="just"/>
            <a:r>
              <a:rPr lang="id-ID" sz="3600" dirty="0" smtClean="0"/>
              <a:t>Fungsi </a:t>
            </a:r>
            <a:r>
              <a:rPr lang="id-ID" sz="3600" dirty="0"/>
              <a:t>ini dapat diletakkan dimana saja dalam script PHP, tapi sebaiknya diletakkan paling atas agar memudahkan dalam proses debugging dalam tahap pembuatan dan pengembangan program.</a:t>
            </a:r>
          </a:p>
        </p:txBody>
      </p:sp>
    </p:spTree>
    <p:extLst>
      <p:ext uri="{BB962C8B-B14F-4D97-AF65-F5344CB8AC3E}">
        <p14:creationId xmlns:p14="http://schemas.microsoft.com/office/powerpoint/2010/main" val="417328339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xmlns="" id="{FC0503ED-9D61-454B-8EDA-5B50615338EB}"/>
              </a:ext>
            </a:extLst>
          </p:cNvPr>
          <p:cNvSpPr txBox="1">
            <a:spLocks/>
          </p:cNvSpPr>
          <p:nvPr/>
        </p:nvSpPr>
        <p:spPr>
          <a:xfrm>
            <a:off x="838200" y="-27661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id-ID" b="1" dirty="0"/>
              <a:t>Fungsi External</a:t>
            </a:r>
          </a:p>
        </p:txBody>
      </p:sp>
      <p:sp>
        <p:nvSpPr>
          <p:cNvPr id="4" name="Rectangle 1"/>
          <p:cNvSpPr>
            <a:spLocks noChangeArrowheads="1"/>
          </p:cNvSpPr>
          <p:nvPr/>
        </p:nvSpPr>
        <p:spPr bwMode="auto">
          <a:xfrm>
            <a:off x="838199" y="1696964"/>
            <a:ext cx="10804302"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id-ID" sz="3600" b="1" dirty="0"/>
              <a:t>Fungsi External</a:t>
            </a:r>
            <a:r>
              <a:rPr lang="id-ID" sz="3600" dirty="0"/>
              <a:t> merupakan daftar fungsi yang belum diaktifkan dalam keseluruhan modul PHP, </a:t>
            </a:r>
            <a:endParaRPr lang="id-ID" sz="3600" dirty="0" smtClean="0"/>
          </a:p>
          <a:p>
            <a:r>
              <a:rPr lang="id-ID" sz="3600" dirty="0" smtClean="0"/>
              <a:t>funginya </a:t>
            </a:r>
            <a:r>
              <a:rPr lang="id-ID" sz="3600" dirty="0"/>
              <a:t>diletakkan dalam library atau file  yang terpisah dari modul PHP.  </a:t>
            </a:r>
            <a:endParaRPr lang="id-ID" sz="3600" dirty="0" smtClean="0"/>
          </a:p>
          <a:p>
            <a:r>
              <a:rPr lang="id-ID" sz="3600" dirty="0" smtClean="0"/>
              <a:t>Fungsi </a:t>
            </a:r>
            <a:r>
              <a:rPr lang="id-ID" sz="3600" dirty="0"/>
              <a:t>external ini dapat diaktifkan secara otomatis dengan meregristasikan pada file PHP.INI.</a:t>
            </a:r>
          </a:p>
        </p:txBody>
      </p:sp>
    </p:spTree>
    <p:extLst>
      <p:ext uri="{BB962C8B-B14F-4D97-AF65-F5344CB8AC3E}">
        <p14:creationId xmlns:p14="http://schemas.microsoft.com/office/powerpoint/2010/main" val="269599538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xmlns="" id="{FC0503ED-9D61-454B-8EDA-5B50615338EB}"/>
              </a:ext>
            </a:extLst>
          </p:cNvPr>
          <p:cNvSpPr txBox="1">
            <a:spLocks/>
          </p:cNvSpPr>
          <p:nvPr/>
        </p:nvSpPr>
        <p:spPr>
          <a:xfrm>
            <a:off x="838200" y="-17358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id-ID" b="1" dirty="0"/>
              <a:t>Latihan 1.</a:t>
            </a:r>
            <a:endParaRPr lang="id-ID" dirty="0"/>
          </a:p>
        </p:txBody>
      </p:sp>
      <p:sp>
        <p:nvSpPr>
          <p:cNvPr id="7" name="Rectangle 6"/>
          <p:cNvSpPr/>
          <p:nvPr/>
        </p:nvSpPr>
        <p:spPr>
          <a:xfrm>
            <a:off x="1160181" y="1130415"/>
            <a:ext cx="11353799" cy="3539430"/>
          </a:xfrm>
          <a:prstGeom prst="rect">
            <a:avLst/>
          </a:prstGeom>
          <a:ln>
            <a:solidFill>
              <a:srgbClr val="92D050"/>
            </a:solidFill>
          </a:ln>
        </p:spPr>
        <p:txBody>
          <a:bodyPr wrap="square">
            <a:spAutoFit/>
          </a:bodyPr>
          <a:lstStyle/>
          <a:p>
            <a:r>
              <a:rPr lang="id-ID" sz="3200" dirty="0"/>
              <a:t>&lt;?php</a:t>
            </a:r>
          </a:p>
          <a:p>
            <a:r>
              <a:rPr lang="id-ID" sz="3200" dirty="0"/>
              <a:t>  function basic($argument)</a:t>
            </a:r>
          </a:p>
          <a:p>
            <a:r>
              <a:rPr lang="id-ID" sz="3200" dirty="0"/>
              <a:t>  {</a:t>
            </a:r>
          </a:p>
          <a:p>
            <a:r>
              <a:rPr lang="id-ID" sz="3200" dirty="0"/>
              <a:t>     echo $argument;</a:t>
            </a:r>
          </a:p>
          <a:p>
            <a:r>
              <a:rPr lang="id-ID" sz="3200" dirty="0"/>
              <a:t>  }</a:t>
            </a:r>
          </a:p>
          <a:p>
            <a:r>
              <a:rPr lang="id-ID" sz="3200" dirty="0"/>
              <a:t>  basic('hello world!'); // outputs 'hello world!'</a:t>
            </a:r>
          </a:p>
          <a:p>
            <a:r>
              <a:rPr lang="id-ID" sz="3200" dirty="0"/>
              <a:t>?&gt;</a:t>
            </a:r>
          </a:p>
        </p:txBody>
      </p:sp>
    </p:spTree>
    <p:extLst>
      <p:ext uri="{BB962C8B-B14F-4D97-AF65-F5344CB8AC3E}">
        <p14:creationId xmlns:p14="http://schemas.microsoft.com/office/powerpoint/2010/main" val="71722754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xmlns="" id="{FC0503ED-9D61-454B-8EDA-5B50615338EB}"/>
              </a:ext>
            </a:extLst>
          </p:cNvPr>
          <p:cNvSpPr txBox="1">
            <a:spLocks/>
          </p:cNvSpPr>
          <p:nvPr/>
        </p:nvSpPr>
        <p:spPr>
          <a:xfrm>
            <a:off x="838200" y="-17358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id-ID" b="1" dirty="0"/>
              <a:t>Latihan </a:t>
            </a:r>
            <a:r>
              <a:rPr lang="id-ID" b="1" dirty="0" smtClean="0"/>
              <a:t>2.</a:t>
            </a:r>
            <a:endParaRPr lang="id-ID" dirty="0"/>
          </a:p>
        </p:txBody>
      </p:sp>
      <p:sp>
        <p:nvSpPr>
          <p:cNvPr id="7" name="Rectangle 6"/>
          <p:cNvSpPr/>
          <p:nvPr/>
        </p:nvSpPr>
        <p:spPr>
          <a:xfrm>
            <a:off x="709416" y="769803"/>
            <a:ext cx="11353799" cy="4832092"/>
          </a:xfrm>
          <a:prstGeom prst="rect">
            <a:avLst/>
          </a:prstGeom>
          <a:ln>
            <a:solidFill>
              <a:srgbClr val="92D050"/>
            </a:solidFill>
          </a:ln>
        </p:spPr>
        <p:txBody>
          <a:bodyPr wrap="square">
            <a:spAutoFit/>
          </a:bodyPr>
          <a:lstStyle/>
          <a:p>
            <a:r>
              <a:rPr lang="id-ID" sz="2800" dirty="0"/>
              <a:t>&lt;html&gt;</a:t>
            </a:r>
          </a:p>
          <a:p>
            <a:r>
              <a:rPr lang="id-ID" sz="2800" dirty="0"/>
              <a:t>&lt;head&gt;&lt;title&gt;Contoh Penggunaan UDF&lt;/title&gt;&lt;/head&gt;</a:t>
            </a:r>
          </a:p>
          <a:p>
            <a:r>
              <a:rPr lang="id-ID" sz="2800" dirty="0"/>
              <a:t>&lt;body&gt;</a:t>
            </a:r>
          </a:p>
          <a:p>
            <a:r>
              <a:rPr lang="id-ID" sz="2800" dirty="0"/>
              <a:t>&lt;! Menentukan Form Input&gt;</a:t>
            </a:r>
          </a:p>
          <a:p>
            <a:r>
              <a:rPr lang="id-ID" sz="2800" dirty="0"/>
              <a:t>&lt;form &gt;</a:t>
            </a:r>
          </a:p>
          <a:p>
            <a:r>
              <a:rPr lang="id-ID" sz="2800" dirty="0"/>
              <a:t>Masukkan Bilangan Pertama  :  &lt;br&gt;</a:t>
            </a:r>
          </a:p>
          <a:p>
            <a:r>
              <a:rPr lang="id-ID" sz="2800" dirty="0"/>
              <a:t>&lt;input type="text" name="A" size=10&gt; &lt;br&gt;</a:t>
            </a:r>
          </a:p>
          <a:p>
            <a:r>
              <a:rPr lang="id-ID" sz="2800" dirty="0"/>
              <a:t>Masukkan Bilangan Kedua :  &lt;br&gt;</a:t>
            </a:r>
          </a:p>
          <a:p>
            <a:r>
              <a:rPr lang="id-ID" sz="2800" dirty="0"/>
              <a:t>&lt;input type="text" name="B" size=10&gt; &lt;br&gt;</a:t>
            </a:r>
          </a:p>
          <a:p>
            <a:r>
              <a:rPr lang="id-ID" sz="2800" dirty="0"/>
              <a:t>&lt;input type="submit" value="hitung"&gt;</a:t>
            </a:r>
          </a:p>
          <a:p>
            <a:r>
              <a:rPr lang="id-ID" sz="2800" dirty="0"/>
              <a:t>&lt;/form&gt;</a:t>
            </a:r>
          </a:p>
        </p:txBody>
      </p:sp>
    </p:spTree>
    <p:extLst>
      <p:ext uri="{BB962C8B-B14F-4D97-AF65-F5344CB8AC3E}">
        <p14:creationId xmlns:p14="http://schemas.microsoft.com/office/powerpoint/2010/main" val="28589000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xmlns="" id="{FC0503ED-9D61-454B-8EDA-5B50615338EB}"/>
              </a:ext>
            </a:extLst>
          </p:cNvPr>
          <p:cNvSpPr txBox="1">
            <a:spLocks/>
          </p:cNvSpPr>
          <p:nvPr/>
        </p:nvSpPr>
        <p:spPr>
          <a:xfrm>
            <a:off x="838200" y="-17358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id-ID" b="1" dirty="0" smtClean="0"/>
              <a:t>Lanjutan Latihan 2.</a:t>
            </a:r>
            <a:endParaRPr lang="id-ID" dirty="0"/>
          </a:p>
        </p:txBody>
      </p:sp>
      <p:sp>
        <p:nvSpPr>
          <p:cNvPr id="7" name="Rectangle 6"/>
          <p:cNvSpPr/>
          <p:nvPr/>
        </p:nvSpPr>
        <p:spPr>
          <a:xfrm>
            <a:off x="709416" y="769803"/>
            <a:ext cx="8434584" cy="5262979"/>
          </a:xfrm>
          <a:prstGeom prst="rect">
            <a:avLst/>
          </a:prstGeom>
          <a:ln>
            <a:solidFill>
              <a:srgbClr val="92D050"/>
            </a:solidFill>
          </a:ln>
        </p:spPr>
        <p:txBody>
          <a:bodyPr wrap="square">
            <a:spAutoFit/>
          </a:bodyPr>
          <a:lstStyle/>
          <a:p>
            <a:r>
              <a:rPr lang="id-ID" sz="2800" dirty="0"/>
              <a:t>&lt;!membandingkan 2 buah bilangan yang diinput&gt;</a:t>
            </a:r>
          </a:p>
          <a:p>
            <a:r>
              <a:rPr lang="id-ID" sz="2800" dirty="0"/>
              <a:t>&lt;?</a:t>
            </a:r>
          </a:p>
          <a:p>
            <a:r>
              <a:rPr lang="id-ID" sz="2800" dirty="0"/>
              <a:t>  $a=$_post["A"];</a:t>
            </a:r>
          </a:p>
          <a:p>
            <a:r>
              <a:rPr lang="id-ID" sz="2800" dirty="0"/>
              <a:t>  $b=$_post["B"];</a:t>
            </a:r>
          </a:p>
          <a:p>
            <a:r>
              <a:rPr lang="id-ID" sz="2800" dirty="0"/>
              <a:t>  Function jumlah($A,$B)</a:t>
            </a:r>
          </a:p>
          <a:p>
            <a:r>
              <a:rPr lang="id-ID" sz="2800" dirty="0"/>
              <a:t>    </a:t>
            </a:r>
            <a:r>
              <a:rPr lang="id-ID" sz="2800" dirty="0" smtClean="0"/>
              <a:t>{    $</a:t>
            </a:r>
            <a:r>
              <a:rPr lang="id-ID" sz="2800" dirty="0"/>
              <a:t>jumlahbil=$A + $B;</a:t>
            </a:r>
          </a:p>
          <a:p>
            <a:r>
              <a:rPr lang="id-ID" sz="2800" dirty="0"/>
              <a:t>       Return $jumlahbil</a:t>
            </a:r>
            <a:r>
              <a:rPr lang="id-ID" sz="2800" dirty="0" smtClean="0"/>
              <a:t>;</a:t>
            </a:r>
          </a:p>
          <a:p>
            <a:r>
              <a:rPr lang="id-ID" sz="2800" dirty="0"/>
              <a:t> }</a:t>
            </a:r>
          </a:p>
          <a:p>
            <a:r>
              <a:rPr lang="id-ID" sz="2800" dirty="0"/>
              <a:t> </a:t>
            </a:r>
            <a:r>
              <a:rPr lang="id-ID" sz="2800" dirty="0" smtClean="0"/>
              <a:t>  </a:t>
            </a:r>
            <a:r>
              <a:rPr lang="id-ID" sz="2800" dirty="0"/>
              <a:t>Function kurang($A,$B)</a:t>
            </a:r>
          </a:p>
          <a:p>
            <a:r>
              <a:rPr lang="id-ID" sz="2800" dirty="0"/>
              <a:t>    </a:t>
            </a:r>
            <a:r>
              <a:rPr lang="id-ID" sz="2800" dirty="0" smtClean="0"/>
              <a:t>{       </a:t>
            </a:r>
            <a:r>
              <a:rPr lang="id-ID" sz="2800" dirty="0"/>
              <a:t>$kurangbil=$A - $B;</a:t>
            </a:r>
          </a:p>
          <a:p>
            <a:r>
              <a:rPr lang="id-ID" sz="2800" dirty="0"/>
              <a:t>       Return $kurangbil;</a:t>
            </a:r>
          </a:p>
          <a:p>
            <a:r>
              <a:rPr lang="id-ID" sz="2800" dirty="0"/>
              <a:t>    </a:t>
            </a:r>
          </a:p>
        </p:txBody>
      </p:sp>
    </p:spTree>
    <p:extLst>
      <p:ext uri="{BB962C8B-B14F-4D97-AF65-F5344CB8AC3E}">
        <p14:creationId xmlns:p14="http://schemas.microsoft.com/office/powerpoint/2010/main" val="12731893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xmlns="" id="{FC0503ED-9D61-454B-8EDA-5B50615338EB}"/>
              </a:ext>
            </a:extLst>
          </p:cNvPr>
          <p:cNvSpPr txBox="1">
            <a:spLocks/>
          </p:cNvSpPr>
          <p:nvPr/>
        </p:nvSpPr>
        <p:spPr>
          <a:xfrm>
            <a:off x="838200" y="-17358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id-ID" b="1" dirty="0" smtClean="0"/>
              <a:t>Lanjutan Latihan 2.</a:t>
            </a:r>
            <a:endParaRPr lang="id-ID" dirty="0"/>
          </a:p>
        </p:txBody>
      </p:sp>
      <p:sp>
        <p:nvSpPr>
          <p:cNvPr id="7" name="Rectangle 6"/>
          <p:cNvSpPr/>
          <p:nvPr/>
        </p:nvSpPr>
        <p:spPr>
          <a:xfrm>
            <a:off x="709416" y="769803"/>
            <a:ext cx="8434584" cy="5693866"/>
          </a:xfrm>
          <a:prstGeom prst="rect">
            <a:avLst/>
          </a:prstGeom>
          <a:ln>
            <a:solidFill>
              <a:srgbClr val="92D050"/>
            </a:solidFill>
          </a:ln>
        </p:spPr>
        <p:txBody>
          <a:bodyPr wrap="square">
            <a:spAutoFit/>
          </a:bodyPr>
          <a:lstStyle/>
          <a:p>
            <a:r>
              <a:rPr lang="id-ID" sz="2800" dirty="0"/>
              <a:t> }</a:t>
            </a:r>
          </a:p>
          <a:p>
            <a:r>
              <a:rPr lang="id-ID" sz="2800" dirty="0"/>
              <a:t> </a:t>
            </a:r>
            <a:r>
              <a:rPr lang="id-ID" sz="2800" dirty="0" smtClean="0"/>
              <a:t>  </a:t>
            </a:r>
            <a:r>
              <a:rPr lang="id-ID" sz="2800" dirty="0"/>
              <a:t>Function kali($A,$B)</a:t>
            </a:r>
          </a:p>
          <a:p>
            <a:r>
              <a:rPr lang="id-ID" sz="2800" dirty="0"/>
              <a:t>    {</a:t>
            </a:r>
          </a:p>
          <a:p>
            <a:r>
              <a:rPr lang="id-ID" sz="2800" dirty="0"/>
              <a:t>       $kalibil=$A * $B;</a:t>
            </a:r>
          </a:p>
          <a:p>
            <a:r>
              <a:rPr lang="id-ID" sz="2800" dirty="0"/>
              <a:t>       Return $kalibil;</a:t>
            </a:r>
          </a:p>
          <a:p>
            <a:r>
              <a:rPr lang="id-ID" sz="2800" dirty="0"/>
              <a:t>    }</a:t>
            </a:r>
          </a:p>
          <a:p>
            <a:r>
              <a:rPr lang="id-ID" sz="2800" dirty="0"/>
              <a:t> </a:t>
            </a:r>
            <a:r>
              <a:rPr lang="id-ID" sz="2800" dirty="0" smtClean="0"/>
              <a:t>  </a:t>
            </a:r>
            <a:r>
              <a:rPr lang="id-ID" sz="2800" dirty="0"/>
              <a:t>Function bagi($A,$B)</a:t>
            </a:r>
          </a:p>
          <a:p>
            <a:r>
              <a:rPr lang="id-ID" sz="2800" dirty="0"/>
              <a:t>    {</a:t>
            </a:r>
          </a:p>
          <a:p>
            <a:r>
              <a:rPr lang="id-ID" sz="2800" dirty="0"/>
              <a:t>       $bagibil=$A / $B;</a:t>
            </a:r>
          </a:p>
          <a:p>
            <a:r>
              <a:rPr lang="id-ID" sz="2800" dirty="0"/>
              <a:t>       Return $bagibil;</a:t>
            </a:r>
          </a:p>
          <a:p>
            <a:r>
              <a:rPr lang="id-ID" sz="2800" dirty="0"/>
              <a:t>    </a:t>
            </a:r>
            <a:r>
              <a:rPr lang="id-ID" sz="2800" dirty="0" smtClean="0"/>
              <a:t>}</a:t>
            </a:r>
          </a:p>
          <a:p>
            <a:r>
              <a:rPr lang="id-ID" sz="2800" dirty="0"/>
              <a:t>Echo "&lt;br&gt;";</a:t>
            </a:r>
          </a:p>
          <a:p>
            <a:endParaRPr lang="id-ID" sz="2800" dirty="0"/>
          </a:p>
        </p:txBody>
      </p:sp>
    </p:spTree>
    <p:extLst>
      <p:ext uri="{BB962C8B-B14F-4D97-AF65-F5344CB8AC3E}">
        <p14:creationId xmlns:p14="http://schemas.microsoft.com/office/powerpoint/2010/main" val="73482420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xmlns="" id="{FC0503ED-9D61-454B-8EDA-5B50615338EB}"/>
              </a:ext>
            </a:extLst>
          </p:cNvPr>
          <p:cNvSpPr txBox="1">
            <a:spLocks/>
          </p:cNvSpPr>
          <p:nvPr/>
        </p:nvSpPr>
        <p:spPr>
          <a:xfrm>
            <a:off x="838200" y="-17358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id-ID" b="1" dirty="0" smtClean="0"/>
              <a:t>Lanjutan Latihan 2.</a:t>
            </a:r>
            <a:endParaRPr lang="id-ID" dirty="0"/>
          </a:p>
        </p:txBody>
      </p:sp>
      <p:sp>
        <p:nvSpPr>
          <p:cNvPr id="7" name="Rectangle 6"/>
          <p:cNvSpPr/>
          <p:nvPr/>
        </p:nvSpPr>
        <p:spPr>
          <a:xfrm>
            <a:off x="709416" y="769803"/>
            <a:ext cx="4871113" cy="5262979"/>
          </a:xfrm>
          <a:prstGeom prst="rect">
            <a:avLst/>
          </a:prstGeom>
          <a:ln>
            <a:solidFill>
              <a:srgbClr val="92D050"/>
            </a:solidFill>
          </a:ln>
        </p:spPr>
        <p:txBody>
          <a:bodyPr wrap="square">
            <a:spAutoFit/>
          </a:bodyPr>
          <a:lstStyle/>
          <a:p>
            <a:r>
              <a:rPr lang="id-ID" sz="2800" dirty="0"/>
              <a:t>Echo ("Bilangan Pertama : ");</a:t>
            </a:r>
          </a:p>
          <a:p>
            <a:r>
              <a:rPr lang="id-ID" sz="2800" dirty="0"/>
              <a:t>Echo $A;</a:t>
            </a:r>
          </a:p>
          <a:p>
            <a:r>
              <a:rPr lang="id-ID" sz="2800" dirty="0"/>
              <a:t>Echo "&lt;br&gt;";</a:t>
            </a:r>
          </a:p>
          <a:p>
            <a:r>
              <a:rPr lang="id-ID" sz="2800" dirty="0"/>
              <a:t>Echo ("Bilangan Kedua : ");</a:t>
            </a:r>
          </a:p>
          <a:p>
            <a:r>
              <a:rPr lang="id-ID" sz="2800" dirty="0"/>
              <a:t>Echo $B;</a:t>
            </a:r>
          </a:p>
          <a:p>
            <a:r>
              <a:rPr lang="id-ID" sz="2800" dirty="0"/>
              <a:t>Echo "&lt;br&gt; &lt;br</a:t>
            </a:r>
            <a:r>
              <a:rPr lang="id-ID" sz="2800" dirty="0" smtClean="0"/>
              <a:t>&gt;";</a:t>
            </a:r>
          </a:p>
          <a:p>
            <a:r>
              <a:rPr lang="id-ID" sz="2800" dirty="0"/>
              <a:t>Echo "Hasil Penjumlahan 2 buah bilangan ";</a:t>
            </a:r>
          </a:p>
          <a:p>
            <a:r>
              <a:rPr lang="id-ID" sz="2800" dirty="0"/>
              <a:t>Echo "&lt;br&gt;";</a:t>
            </a:r>
          </a:p>
          <a:p>
            <a:r>
              <a:rPr lang="id-ID" sz="2800" dirty="0"/>
              <a:t>$jumlahbil=&amp;jumlah($A,$B);</a:t>
            </a:r>
          </a:p>
          <a:p>
            <a:r>
              <a:rPr lang="id-ID" sz="2800" dirty="0"/>
              <a:t>Printf( "Penjumlahan antara :  %d  +  %d  =  %</a:t>
            </a:r>
            <a:r>
              <a:rPr lang="id-ID" sz="2800" dirty="0" smtClean="0"/>
              <a:t>d</a:t>
            </a:r>
            <a:endParaRPr lang="id-ID" sz="2800" dirty="0"/>
          </a:p>
        </p:txBody>
      </p:sp>
      <p:sp>
        <p:nvSpPr>
          <p:cNvPr id="4" name="Rectangle 3"/>
          <p:cNvSpPr/>
          <p:nvPr/>
        </p:nvSpPr>
        <p:spPr>
          <a:xfrm>
            <a:off x="5845944" y="904248"/>
            <a:ext cx="5661712" cy="5693866"/>
          </a:xfrm>
          <a:prstGeom prst="rect">
            <a:avLst/>
          </a:prstGeom>
          <a:ln>
            <a:solidFill>
              <a:srgbClr val="92D050"/>
            </a:solidFill>
          </a:ln>
        </p:spPr>
        <p:txBody>
          <a:bodyPr wrap="square">
            <a:spAutoFit/>
          </a:bodyPr>
          <a:lstStyle/>
          <a:p>
            <a:r>
              <a:rPr lang="id-ID" sz="2800" dirty="0"/>
              <a:t>",$A,$B,$jumlahbil);</a:t>
            </a:r>
          </a:p>
          <a:p>
            <a:r>
              <a:rPr lang="id-ID" sz="2800" dirty="0"/>
              <a:t>Echo "&lt;br&gt;&lt;br&gt;";</a:t>
            </a:r>
          </a:p>
          <a:p>
            <a:r>
              <a:rPr lang="id-ID" sz="2800" dirty="0"/>
              <a:t>Echo "Hasil Pengurangan 2 buah bilangan ";</a:t>
            </a:r>
          </a:p>
          <a:p>
            <a:r>
              <a:rPr lang="id-ID" sz="2800" dirty="0"/>
              <a:t>Echo "&lt;br&gt;";</a:t>
            </a:r>
          </a:p>
          <a:p>
            <a:r>
              <a:rPr lang="id-ID" sz="2800" dirty="0"/>
              <a:t>$kurangbil=&amp;kurang($A,$B);</a:t>
            </a:r>
          </a:p>
          <a:p>
            <a:r>
              <a:rPr lang="id-ID" sz="2800" dirty="0"/>
              <a:t>Printf( "Pengurangan antara :  %d  -  %d  =  %d ",$A,$B,$kurangbil);</a:t>
            </a:r>
          </a:p>
          <a:p>
            <a:r>
              <a:rPr lang="id-ID" sz="2800" dirty="0"/>
              <a:t>Echo "&lt;br&gt;&lt;br&gt;";</a:t>
            </a:r>
          </a:p>
          <a:p>
            <a:r>
              <a:rPr lang="id-ID" sz="2800" dirty="0"/>
              <a:t>Echo "Hasil Perkalian 2 buah bilangan ";</a:t>
            </a:r>
          </a:p>
          <a:p>
            <a:r>
              <a:rPr lang="id-ID" sz="2800" dirty="0"/>
              <a:t>Echo "&lt;br&gt;";</a:t>
            </a:r>
          </a:p>
          <a:p>
            <a:endParaRPr lang="id-ID" sz="2800" dirty="0"/>
          </a:p>
        </p:txBody>
      </p:sp>
    </p:spTree>
    <p:extLst>
      <p:ext uri="{BB962C8B-B14F-4D97-AF65-F5344CB8AC3E}">
        <p14:creationId xmlns:p14="http://schemas.microsoft.com/office/powerpoint/2010/main" val="32772675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xmlns="" id="{FC0503ED-9D61-454B-8EDA-5B50615338EB}"/>
              </a:ext>
            </a:extLst>
          </p:cNvPr>
          <p:cNvSpPr txBox="1">
            <a:spLocks/>
          </p:cNvSpPr>
          <p:nvPr/>
        </p:nvSpPr>
        <p:spPr>
          <a:xfrm>
            <a:off x="838200" y="-17358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id-ID" b="1" dirty="0" smtClean="0"/>
              <a:t>Lanjutan Latihan 2.</a:t>
            </a:r>
            <a:endParaRPr lang="id-ID" dirty="0"/>
          </a:p>
        </p:txBody>
      </p:sp>
      <p:sp>
        <p:nvSpPr>
          <p:cNvPr id="7" name="Rectangle 6"/>
          <p:cNvSpPr/>
          <p:nvPr/>
        </p:nvSpPr>
        <p:spPr>
          <a:xfrm>
            <a:off x="709416" y="769803"/>
            <a:ext cx="4871113" cy="3539430"/>
          </a:xfrm>
          <a:prstGeom prst="rect">
            <a:avLst/>
          </a:prstGeom>
          <a:ln>
            <a:solidFill>
              <a:srgbClr val="92D050"/>
            </a:solidFill>
          </a:ln>
        </p:spPr>
        <p:txBody>
          <a:bodyPr wrap="square">
            <a:spAutoFit/>
          </a:bodyPr>
          <a:lstStyle/>
          <a:p>
            <a:r>
              <a:rPr lang="id-ID" sz="2800" dirty="0"/>
              <a:t>$kalibil=&amp;kali($A,$B);</a:t>
            </a:r>
          </a:p>
          <a:p>
            <a:r>
              <a:rPr lang="id-ID" sz="2800" dirty="0"/>
              <a:t>Printf( "Perkalian antara :  %d  *  %d  =  %d ", $A, $B, $kalibil);</a:t>
            </a:r>
          </a:p>
          <a:p>
            <a:r>
              <a:rPr lang="id-ID" sz="2800" dirty="0"/>
              <a:t>Echo "&lt;br&gt;&lt;br&gt;";</a:t>
            </a:r>
          </a:p>
          <a:p>
            <a:r>
              <a:rPr lang="id-ID" sz="2800" dirty="0"/>
              <a:t>Echo "Hasil Pembagian 2 buah bilangan ";</a:t>
            </a:r>
          </a:p>
          <a:p>
            <a:r>
              <a:rPr lang="id-ID" sz="2800" dirty="0"/>
              <a:t>Echo "&lt;br&gt;";</a:t>
            </a:r>
          </a:p>
          <a:p>
            <a:r>
              <a:rPr lang="id-ID" sz="2800" dirty="0"/>
              <a:t>$bagibil=&amp;bagi($A,$B);</a:t>
            </a:r>
          </a:p>
        </p:txBody>
      </p:sp>
      <p:sp>
        <p:nvSpPr>
          <p:cNvPr id="4" name="Rectangle 3"/>
          <p:cNvSpPr/>
          <p:nvPr/>
        </p:nvSpPr>
        <p:spPr>
          <a:xfrm>
            <a:off x="5845944" y="904248"/>
            <a:ext cx="5661712" cy="2677656"/>
          </a:xfrm>
          <a:prstGeom prst="rect">
            <a:avLst/>
          </a:prstGeom>
          <a:ln>
            <a:solidFill>
              <a:srgbClr val="92D050"/>
            </a:solidFill>
          </a:ln>
        </p:spPr>
        <p:txBody>
          <a:bodyPr wrap="square">
            <a:spAutoFit/>
          </a:bodyPr>
          <a:lstStyle/>
          <a:p>
            <a:r>
              <a:rPr lang="id-ID" sz="2800" dirty="0"/>
              <a:t>Printf( "Pembagian antara :  %d  / %d  =  %d ",$A,$B,$bagibil);</a:t>
            </a:r>
          </a:p>
          <a:p>
            <a:r>
              <a:rPr lang="id-ID" sz="2800" dirty="0"/>
              <a:t>Echo "&lt;br&gt;&lt;br&gt;";</a:t>
            </a:r>
          </a:p>
          <a:p>
            <a:r>
              <a:rPr lang="id-ID" sz="2800" dirty="0"/>
              <a:t>?&gt;</a:t>
            </a:r>
          </a:p>
          <a:p>
            <a:r>
              <a:rPr lang="id-ID" sz="2800" dirty="0"/>
              <a:t>&lt;/body&gt;</a:t>
            </a:r>
          </a:p>
          <a:p>
            <a:r>
              <a:rPr lang="id-ID" sz="2800" dirty="0"/>
              <a:t>&lt;/html&gt;</a:t>
            </a:r>
          </a:p>
        </p:txBody>
      </p:sp>
    </p:spTree>
    <p:extLst>
      <p:ext uri="{BB962C8B-B14F-4D97-AF65-F5344CB8AC3E}">
        <p14:creationId xmlns:p14="http://schemas.microsoft.com/office/powerpoint/2010/main" val="269245816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xmlns="" id="{FC0503ED-9D61-454B-8EDA-5B50615338EB}"/>
              </a:ext>
            </a:extLst>
          </p:cNvPr>
          <p:cNvSpPr txBox="1">
            <a:spLocks/>
          </p:cNvSpPr>
          <p:nvPr/>
        </p:nvSpPr>
        <p:spPr>
          <a:xfrm>
            <a:off x="838200" y="-17358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id-ID" b="1" dirty="0" smtClean="0"/>
              <a:t>Lanjutan </a:t>
            </a:r>
            <a:r>
              <a:rPr lang="id-ID" b="1" smtClean="0"/>
              <a:t>Latihan 3.</a:t>
            </a:r>
            <a:endParaRPr lang="id-ID" dirty="0"/>
          </a:p>
        </p:txBody>
      </p:sp>
      <p:sp>
        <p:nvSpPr>
          <p:cNvPr id="7" name="Rectangle 6"/>
          <p:cNvSpPr/>
          <p:nvPr/>
        </p:nvSpPr>
        <p:spPr>
          <a:xfrm>
            <a:off x="709416" y="769803"/>
            <a:ext cx="4871113" cy="4401205"/>
          </a:xfrm>
          <a:prstGeom prst="rect">
            <a:avLst/>
          </a:prstGeom>
          <a:ln>
            <a:solidFill>
              <a:srgbClr val="92D050"/>
            </a:solidFill>
          </a:ln>
        </p:spPr>
        <p:txBody>
          <a:bodyPr wrap="square">
            <a:spAutoFit/>
          </a:bodyPr>
          <a:lstStyle/>
          <a:p>
            <a:r>
              <a:rPr lang="id-ID" sz="2800" dirty="0"/>
              <a:t>&lt;?php</a:t>
            </a:r>
          </a:p>
          <a:p>
            <a:r>
              <a:rPr lang="id-ID" sz="2800" dirty="0"/>
              <a:t>function repeat($text, $num = 10)</a:t>
            </a:r>
          </a:p>
          <a:p>
            <a:r>
              <a:rPr lang="id-ID" sz="2800" dirty="0"/>
              <a:t>{</a:t>
            </a:r>
          </a:p>
          <a:p>
            <a:r>
              <a:rPr lang="id-ID" sz="2800" dirty="0"/>
              <a:t>   echo "&lt;ol&gt;\r\n";</a:t>
            </a:r>
          </a:p>
          <a:p>
            <a:r>
              <a:rPr lang="id-ID" sz="2800" dirty="0"/>
              <a:t>   for($i = 0; $i &lt; $num; $i++)</a:t>
            </a:r>
          </a:p>
          <a:p>
            <a:r>
              <a:rPr lang="id-ID" sz="2800" dirty="0"/>
              <a:t>   {</a:t>
            </a:r>
          </a:p>
          <a:p>
            <a:r>
              <a:rPr lang="id-ID" sz="2800" dirty="0"/>
              <a:t>      echo "&lt;li&gt;$text &lt;/li&gt;\r\n";</a:t>
            </a:r>
          </a:p>
          <a:p>
            <a:r>
              <a:rPr lang="id-ID" sz="2800" dirty="0"/>
              <a:t>   }</a:t>
            </a:r>
          </a:p>
          <a:p>
            <a:r>
              <a:rPr lang="id-ID" sz="2800" dirty="0"/>
              <a:t>   echo "&lt;/ol&gt;";</a:t>
            </a:r>
          </a:p>
        </p:txBody>
      </p:sp>
      <p:sp>
        <p:nvSpPr>
          <p:cNvPr id="4" name="Rectangle 3"/>
          <p:cNvSpPr/>
          <p:nvPr/>
        </p:nvSpPr>
        <p:spPr>
          <a:xfrm>
            <a:off x="5845944" y="904248"/>
            <a:ext cx="5661712" cy="3108543"/>
          </a:xfrm>
          <a:prstGeom prst="rect">
            <a:avLst/>
          </a:prstGeom>
          <a:ln>
            <a:solidFill>
              <a:srgbClr val="92D050"/>
            </a:solidFill>
          </a:ln>
        </p:spPr>
        <p:txBody>
          <a:bodyPr wrap="square">
            <a:spAutoFit/>
          </a:bodyPr>
          <a:lstStyle/>
          <a:p>
            <a:r>
              <a:rPr lang="id-ID" sz="2800" dirty="0"/>
              <a:t>}</a:t>
            </a:r>
          </a:p>
          <a:p>
            <a:r>
              <a:rPr lang="id-ID" sz="2800" dirty="0"/>
              <a:t>// calling repeat with two arguments</a:t>
            </a:r>
          </a:p>
          <a:p>
            <a:r>
              <a:rPr lang="id-ID" sz="2800" dirty="0"/>
              <a:t>repeat("I'm the best", 15);</a:t>
            </a:r>
          </a:p>
          <a:p>
            <a:r>
              <a:rPr lang="id-ID" sz="2800" dirty="0"/>
              <a:t>// calling repeat with just one argument</a:t>
            </a:r>
          </a:p>
          <a:p>
            <a:r>
              <a:rPr lang="id-ID" sz="2800" dirty="0"/>
              <a:t>repeat("You're the man");</a:t>
            </a:r>
          </a:p>
          <a:p>
            <a:r>
              <a:rPr lang="id-ID" sz="2800" dirty="0"/>
              <a:t>?&gt;</a:t>
            </a:r>
          </a:p>
        </p:txBody>
      </p:sp>
    </p:spTree>
    <p:extLst>
      <p:ext uri="{BB962C8B-B14F-4D97-AF65-F5344CB8AC3E}">
        <p14:creationId xmlns:p14="http://schemas.microsoft.com/office/powerpoint/2010/main" val="26009234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2475AD7-8A07-4659-B9DC-C6D502424D6E}"/>
              </a:ext>
            </a:extLst>
          </p:cNvPr>
          <p:cNvSpPr>
            <a:spLocks noGrp="1"/>
          </p:cNvSpPr>
          <p:nvPr>
            <p:ph type="title"/>
          </p:nvPr>
        </p:nvSpPr>
        <p:spPr/>
        <p:txBody>
          <a:bodyPr/>
          <a:lstStyle/>
          <a:p>
            <a:endParaRPr lang="en-ID"/>
          </a:p>
        </p:txBody>
      </p:sp>
    </p:spTree>
    <p:extLst>
      <p:ext uri="{BB962C8B-B14F-4D97-AF65-F5344CB8AC3E}">
        <p14:creationId xmlns:p14="http://schemas.microsoft.com/office/powerpoint/2010/main" val="5691025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807D5B0-CAF7-45A2-B0D1-E8315A4FC920}"/>
              </a:ext>
            </a:extLst>
          </p:cNvPr>
          <p:cNvSpPr>
            <a:spLocks noGrp="1"/>
          </p:cNvSpPr>
          <p:nvPr>
            <p:ph type="title"/>
          </p:nvPr>
        </p:nvSpPr>
        <p:spPr/>
        <p:txBody>
          <a:bodyPr/>
          <a:lstStyle/>
          <a:p>
            <a:endParaRPr lang="en-ID"/>
          </a:p>
        </p:txBody>
      </p:sp>
    </p:spTree>
    <p:extLst>
      <p:ext uri="{BB962C8B-B14F-4D97-AF65-F5344CB8AC3E}">
        <p14:creationId xmlns:p14="http://schemas.microsoft.com/office/powerpoint/2010/main" val="516666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8BBBC7-7D6D-4A56-8061-F6B2DFE2A925}"/>
              </a:ext>
            </a:extLst>
          </p:cNvPr>
          <p:cNvSpPr>
            <a:spLocks noGrp="1"/>
          </p:cNvSpPr>
          <p:nvPr>
            <p:ph type="title"/>
          </p:nvPr>
        </p:nvSpPr>
        <p:spPr>
          <a:xfrm>
            <a:off x="1023135" y="765818"/>
            <a:ext cx="10515600" cy="1325563"/>
          </a:xfrm>
        </p:spPr>
        <p:txBody>
          <a:bodyPr/>
          <a:lstStyle/>
          <a:p>
            <a:endParaRPr lang="en-ID"/>
          </a:p>
        </p:txBody>
      </p:sp>
    </p:spTree>
    <p:extLst>
      <p:ext uri="{BB962C8B-B14F-4D97-AF65-F5344CB8AC3E}">
        <p14:creationId xmlns:p14="http://schemas.microsoft.com/office/powerpoint/2010/main" val="3298398991"/>
      </p:ext>
    </p:extLst>
  </p:cSld>
  <p:clrMapOvr>
    <a:masterClrMapping/>
  </p:clrMapOvr>
</p:sld>
</file>

<file path=ppt/theme/theme1.xml><?xml version="1.0" encoding="utf-8"?>
<a:theme xmlns:a="http://schemas.openxmlformats.org/drawingml/2006/main" name="6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7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TotalTime>
  <Words>826</Words>
  <Application>Microsoft Office PowerPoint</Application>
  <PresentationFormat>Custom</PresentationFormat>
  <Paragraphs>125</Paragraphs>
  <Slides>18</Slides>
  <Notes>0</Notes>
  <HiddenSlides>0</HiddenSlides>
  <MMClips>0</MMClips>
  <ScaleCrop>false</ScaleCrop>
  <HeadingPairs>
    <vt:vector size="4" baseType="variant">
      <vt:variant>
        <vt:lpstr>Theme</vt:lpstr>
      </vt:variant>
      <vt:variant>
        <vt:i4>8</vt:i4>
      </vt:variant>
      <vt:variant>
        <vt:lpstr>Slide Titles</vt:lpstr>
      </vt:variant>
      <vt:variant>
        <vt:i4>18</vt:i4>
      </vt:variant>
    </vt:vector>
  </HeadingPairs>
  <TitlesOfParts>
    <vt:vector size="26" baseType="lpstr">
      <vt:lpstr>6_Office Theme</vt:lpstr>
      <vt:lpstr>7_Office Theme</vt:lpstr>
      <vt:lpstr>4_Office Theme</vt:lpstr>
      <vt:lpstr>3_Office Theme</vt:lpstr>
      <vt:lpstr>2_Office Theme</vt:lpstr>
      <vt:lpstr>Office Theme</vt:lpstr>
      <vt:lpstr>5_Office Theme</vt:lpstr>
      <vt:lpstr>1_Office Theme</vt:lpstr>
      <vt:lpstr>PERTEMUAN  8 BAB VI  FUNCTION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lisda masitoh</dc:creator>
  <cp:lastModifiedBy>zainudin</cp:lastModifiedBy>
  <cp:revision>19</cp:revision>
  <dcterms:created xsi:type="dcterms:W3CDTF">2021-08-16T10:58:02Z</dcterms:created>
  <dcterms:modified xsi:type="dcterms:W3CDTF">2021-08-25T16:44:32Z</dcterms:modified>
</cp:coreProperties>
</file>