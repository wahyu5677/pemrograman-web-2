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59" r:id="rId10"/>
    <p:sldId id="261" r:id="rId11"/>
    <p:sldId id="274" r:id="rId12"/>
    <p:sldId id="275" r:id="rId13"/>
    <p:sldId id="276" r:id="rId14"/>
    <p:sldId id="262" r:id="rId15"/>
    <p:sldId id="272" r:id="rId16"/>
    <p:sldId id="264" r:id="rId17"/>
    <p:sldId id="277" r:id="rId18"/>
    <p:sldId id="278" r:id="rId19"/>
    <p:sldId id="279" r:id="rId20"/>
    <p:sldId id="280" r:id="rId21"/>
    <p:sldId id="281" r:id="rId22"/>
    <p:sldId id="269" r:id="rId23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B8B3090F-55CA-48B6-AE9D-1026C3C1790C}"/>
              </a:ext>
            </a:extLst>
          </p:cNvPr>
          <p:cNvSpPr txBox="1">
            <a:spLocks/>
          </p:cNvSpPr>
          <p:nvPr/>
        </p:nvSpPr>
        <p:spPr>
          <a:xfrm>
            <a:off x="838200" y="370299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4000" b="1" dirty="0" smtClean="0"/>
              <a:t>PERTEMUAN  9</a:t>
            </a:r>
            <a:br>
              <a:rPr lang="id-ID" sz="4000" b="1" dirty="0" smtClean="0"/>
            </a:br>
            <a:r>
              <a:rPr lang="id-ID" sz="4000" b="1" dirty="0" smtClean="0"/>
              <a:t>BAB VI  FUNCTION LANJUTAN</a:t>
            </a:r>
            <a:br>
              <a:rPr lang="id-ID" sz="4000" b="1" dirty="0" smtClean="0"/>
            </a:br>
            <a:r>
              <a:rPr lang="id-ID" sz="4000" b="1" dirty="0" smtClean="0"/>
              <a:t/>
            </a:r>
            <a:br>
              <a:rPr lang="id-ID" sz="4000" b="1" dirty="0" smtClean="0"/>
            </a:br>
            <a:endParaRPr lang="id-ID" sz="4000" b="1" dirty="0"/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B8B3090F-55CA-48B6-AE9D-1026C3C1790C}"/>
              </a:ext>
            </a:extLst>
          </p:cNvPr>
          <p:cNvSpPr txBox="1">
            <a:spLocks/>
          </p:cNvSpPr>
          <p:nvPr/>
        </p:nvSpPr>
        <p:spPr>
          <a:xfrm>
            <a:off x="990600" y="18205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b="1" dirty="0" smtClean="0">
                <a:latin typeface="Algerian" panose="04020705040A02060702" pitchFamily="82" charset="0"/>
              </a:rPr>
              <a:t>PEMROGRAMAN WEB 2</a:t>
            </a:r>
            <a:br>
              <a:rPr lang="id-ID" b="1" dirty="0" smtClean="0">
                <a:latin typeface="Algerian" panose="04020705040A02060702" pitchFamily="82" charset="0"/>
              </a:rPr>
            </a:br>
            <a:endParaRPr lang="en-ID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DAE948-1D49-4F39-87B7-414285F7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id-ID" b="1" dirty="0"/>
              <a:t>6.2  Jenis-jenis fungsi Buit-In</a:t>
            </a:r>
            <a:br>
              <a:rPr lang="id-ID" b="1" dirty="0"/>
            </a:br>
            <a:r>
              <a:rPr lang="id-ID" b="1" dirty="0"/>
              <a:t>Fungsi Tanggal</a:t>
            </a:r>
            <a:r>
              <a:rPr lang="id-ID" dirty="0"/>
              <a:t/>
            </a:r>
            <a:br>
              <a:rPr lang="id-ID" dirty="0"/>
            </a:br>
            <a:endParaRPr lang="en-ID" dirty="0"/>
          </a:p>
        </p:txBody>
      </p:sp>
      <p:sp>
        <p:nvSpPr>
          <p:cNvPr id="3" name="Rectangle 2"/>
          <p:cNvSpPr/>
          <p:nvPr/>
        </p:nvSpPr>
        <p:spPr>
          <a:xfrm>
            <a:off x="862885" y="1609859"/>
            <a:ext cx="1029021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err="1"/>
              <a:t>Fungsi</a:t>
            </a:r>
            <a:r>
              <a:rPr lang="en-US" sz="4000" dirty="0"/>
              <a:t> date </a:t>
            </a:r>
            <a:r>
              <a:rPr lang="en-US" sz="4000" dirty="0" err="1"/>
              <a:t>dapat</a:t>
            </a:r>
            <a:r>
              <a:rPr lang="en-US" sz="4000" dirty="0"/>
              <a:t> </a:t>
            </a:r>
            <a:r>
              <a:rPr lang="en-US" sz="4000" dirty="0" err="1"/>
              <a:t>digunakan</a:t>
            </a:r>
            <a:r>
              <a:rPr lang="en-US" sz="4000" dirty="0"/>
              <a:t> </a:t>
            </a:r>
            <a:r>
              <a:rPr lang="en-US" sz="4000" dirty="0" err="1"/>
              <a:t>untuk</a:t>
            </a:r>
            <a:r>
              <a:rPr lang="en-US" sz="4000" dirty="0"/>
              <a:t> </a:t>
            </a:r>
            <a:r>
              <a:rPr lang="en-US" sz="4000" dirty="0" err="1"/>
              <a:t>memperoleh</a:t>
            </a:r>
            <a:r>
              <a:rPr lang="en-US" sz="4000" dirty="0"/>
              <a:t> </a:t>
            </a:r>
            <a:r>
              <a:rPr lang="en-US" sz="4000" dirty="0" err="1"/>
              <a:t>tanggal</a:t>
            </a:r>
            <a:r>
              <a:rPr lang="en-US" sz="4000" dirty="0"/>
              <a:t> </a:t>
            </a:r>
            <a:r>
              <a:rPr lang="en-US" sz="4000" dirty="0" err="1"/>
              <a:t>atau</a:t>
            </a:r>
            <a:r>
              <a:rPr lang="en-US" sz="4000" dirty="0"/>
              <a:t> jam </a:t>
            </a:r>
            <a:r>
              <a:rPr lang="en-US" sz="4000" dirty="0" err="1"/>
              <a:t>pada</a:t>
            </a:r>
            <a:r>
              <a:rPr lang="en-US" sz="4000" dirty="0"/>
              <a:t> system (server</a:t>
            </a:r>
            <a:r>
              <a:rPr lang="en-US" sz="4000" dirty="0" smtClean="0"/>
              <a:t>).</a:t>
            </a:r>
            <a:endParaRPr lang="id-ID" sz="4000" dirty="0" smtClean="0"/>
          </a:p>
          <a:p>
            <a:endParaRPr lang="id-ID" sz="4000" dirty="0"/>
          </a:p>
          <a:p>
            <a:r>
              <a:rPr lang="en-US" sz="4000" dirty="0"/>
              <a:t>Syntax :</a:t>
            </a:r>
            <a:r>
              <a:rPr lang="id-ID" sz="4000" dirty="0"/>
              <a:t>   </a:t>
            </a:r>
            <a:r>
              <a:rPr lang="en-US" sz="4000" b="1" dirty="0"/>
              <a:t>Date(</a:t>
            </a:r>
            <a:r>
              <a:rPr lang="en-US" sz="4000" b="1" dirty="0" err="1"/>
              <a:t>sring_format</a:t>
            </a:r>
            <a:r>
              <a:rPr lang="en-US" sz="4000" b="1" dirty="0"/>
              <a:t>)</a:t>
            </a:r>
            <a:endParaRPr lang="id-ID" sz="4000" dirty="0"/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28DF8F-5A82-4E28-AFD1-F39D04FC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71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Tabel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memperlihatkan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format </a:t>
            </a:r>
            <a:r>
              <a:rPr lang="en-US" dirty="0" err="1"/>
              <a:t>waktu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dihasilkan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id-ID" dirty="0"/>
              <a:t>nilai argumen yang di</a:t>
            </a:r>
            <a:r>
              <a:rPr lang="en-US" dirty="0" err="1"/>
              <a:t>masukkan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</a:t>
            </a:r>
            <a:r>
              <a:rPr lang="id-ID" dirty="0"/>
              <a:t/>
            </a:r>
            <a:br>
              <a:rPr lang="id-ID" dirty="0"/>
            </a:br>
            <a:endParaRPr lang="en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49725"/>
              </p:ext>
            </p:extLst>
          </p:nvPr>
        </p:nvGraphicFramePr>
        <p:xfrm>
          <a:off x="708339" y="2689105"/>
          <a:ext cx="10406129" cy="3280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1526"/>
                <a:gridCol w="8654603"/>
              </a:tblGrid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Argumen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Nilai hasil 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a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“am” atau “pm”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A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“AM” atau “PM”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d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Tanggal sekarang dari “01″ sampai dengan “31″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D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Nama hari dari “Sun” sampai dengan “Sat”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F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Nama bulan dari “January” sampai dengan “December”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143724"/>
              </p:ext>
            </p:extLst>
          </p:nvPr>
        </p:nvGraphicFramePr>
        <p:xfrm>
          <a:off x="1210614" y="770135"/>
          <a:ext cx="9839460" cy="5468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6146"/>
                <a:gridCol w="8183314"/>
              </a:tblGrid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Argumen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Nilai hasil 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G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Jam sekarang dari “1″ sampai dengan “12″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G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Jam sekarang dari “0″ sampai dengan “23″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H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Jam sekarang dari “01″ sampai dengan “12″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H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Jam sekarang dari “00″ sampai dengan “23″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I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Menit sekarang dari “00″ sampai dengan “59″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I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Daylight saving time : “1″ jika True, “0″ jika false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J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Tanggal sekarang dari “1″ sampai dengan “31″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L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Nama hari dari “Sunday” sampai dengan “Saturday”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L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Tahun kabisat : “1″ jika True, “0″ jika false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83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60045"/>
              </p:ext>
            </p:extLst>
          </p:nvPr>
        </p:nvGraphicFramePr>
        <p:xfrm>
          <a:off x="953040" y="770134"/>
          <a:ext cx="10097035" cy="54121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1526"/>
                <a:gridCol w="8345509"/>
              </a:tblGrid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Argumen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Nilai hasil 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M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Kode bulan dari “01″ sampai dengan “12″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M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>
                          <a:effectLst/>
                        </a:rPr>
                        <a:t>Nama bulan dari “Jan” sampai dengan “Dec”</a:t>
                      </a:r>
                      <a:endParaRPr lang="id-ID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N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Kode bulan dari “1″ sampai dengan “12″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R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Format tanggal RFC 822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S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Detik sekarang dari “00″ sampai dengan “59″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S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Akhiran “th” atau “nd”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T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Jumlah hari pada bulan sekarang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2090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T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Format timezone pada komputer, misalnya “Pacific Standard Time”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667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17531"/>
              </p:ext>
            </p:extLst>
          </p:nvPr>
        </p:nvGraphicFramePr>
        <p:xfrm>
          <a:off x="708339" y="1465600"/>
          <a:ext cx="10406129" cy="2734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1526"/>
                <a:gridCol w="8654603"/>
              </a:tblGrid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Argumen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Nilai hasil 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W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Kode hari dari “0″ (Minggu) sampai dengan “7″ (Sabtu)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Y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Tahun sekarang dalam 2 digit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Y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Tahun sekarang dalam 4 digit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  <a:tr h="159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 smtClean="0">
                          <a:effectLst/>
                        </a:rPr>
                        <a:t>Z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id-ID" sz="2800" dirty="0">
                          <a:effectLst/>
                        </a:rPr>
                        <a:t>Tanggal dalam tahun dari “1″ sampai dengan “365″</a:t>
                      </a:r>
                      <a:endParaRPr lang="id-ID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049" marR="28049" marT="28049" marB="2804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23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5906C2-2270-4032-BA39-10E075F3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24"/>
            <a:ext cx="10515600" cy="1325563"/>
          </a:xfrm>
        </p:spPr>
        <p:txBody>
          <a:bodyPr/>
          <a:lstStyle/>
          <a:p>
            <a:pPr algn="r"/>
            <a:r>
              <a:rPr lang="id-ID" b="1" dirty="0"/>
              <a:t>Latihan 4.</a:t>
            </a:r>
            <a:r>
              <a:rPr lang="id-ID" dirty="0"/>
              <a:t/>
            </a:r>
            <a:br>
              <a:rPr lang="id-ID" dirty="0"/>
            </a:br>
            <a:endParaRPr lang="en-ID" dirty="0"/>
          </a:p>
        </p:txBody>
      </p:sp>
      <p:sp>
        <p:nvSpPr>
          <p:cNvPr id="3" name="Rectangle 2"/>
          <p:cNvSpPr/>
          <p:nvPr/>
        </p:nvSpPr>
        <p:spPr>
          <a:xfrm>
            <a:off x="1631310" y="62275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2400" dirty="0"/>
              <a:t>&lt;HTML&gt;</a:t>
            </a:r>
            <a:br>
              <a:rPr lang="id-ID" sz="2400" dirty="0"/>
            </a:br>
            <a:r>
              <a:rPr lang="id-ID" sz="2400" dirty="0"/>
              <a:t>&lt;HEAD&gt;</a:t>
            </a:r>
            <a:br>
              <a:rPr lang="id-ID" sz="2400" dirty="0"/>
            </a:br>
            <a:r>
              <a:rPr lang="id-ID" sz="2400" dirty="0"/>
              <a:t>&lt;TITLE&gt; Tanggal &lt;/TITLE&gt;</a:t>
            </a:r>
            <a:br>
              <a:rPr lang="id-ID" sz="2400" dirty="0"/>
            </a:br>
            <a:r>
              <a:rPr lang="id-ID" sz="2400" dirty="0"/>
              <a:t>&lt;/HEAD&gt;</a:t>
            </a:r>
            <a:br>
              <a:rPr lang="id-ID" sz="2400" dirty="0"/>
            </a:br>
            <a:r>
              <a:rPr lang="id-ID" sz="2400" dirty="0"/>
              <a:t>&lt;BODY&gt;</a:t>
            </a:r>
            <a:br>
              <a:rPr lang="id-ID" sz="2400" dirty="0"/>
            </a:br>
            <a:r>
              <a:rPr lang="id-ID" sz="2400" dirty="0"/>
              <a:t>&lt;font size="10px"&gt;</a:t>
            </a:r>
          </a:p>
          <a:p>
            <a:r>
              <a:rPr lang="id-ID" sz="2400" dirty="0"/>
              <a:t>&lt;?php</a:t>
            </a:r>
            <a:br>
              <a:rPr lang="id-ID" sz="2400" dirty="0"/>
            </a:br>
            <a:r>
              <a:rPr lang="id-ID" sz="2400" dirty="0"/>
              <a:t>echo "Sekarang  tanggal ";</a:t>
            </a:r>
            <a:br>
              <a:rPr lang="id-ID" sz="2400" dirty="0"/>
            </a:br>
            <a:r>
              <a:rPr lang="id-ID" sz="2400" dirty="0"/>
              <a:t>echo date('d-F-Y');</a:t>
            </a:r>
            <a:br>
              <a:rPr lang="id-ID" sz="2400" dirty="0"/>
            </a:br>
            <a:r>
              <a:rPr lang="id-ID" sz="2400" dirty="0"/>
              <a:t>echo "&lt;br&gt;dan jam ";</a:t>
            </a:r>
            <a:br>
              <a:rPr lang="id-ID" sz="2400" dirty="0"/>
            </a:br>
            <a:r>
              <a:rPr lang="id-ID" sz="2400" dirty="0"/>
              <a:t>echo date('h:i:s A');</a:t>
            </a:r>
            <a:br>
              <a:rPr lang="id-ID" sz="2400" dirty="0"/>
            </a:br>
            <a:r>
              <a:rPr lang="id-ID" sz="2400" dirty="0"/>
              <a:t>?&gt;</a:t>
            </a:r>
          </a:p>
          <a:p>
            <a:r>
              <a:rPr lang="id-ID" sz="2400" dirty="0"/>
              <a:t>&lt;/FONT&gt;</a:t>
            </a:r>
            <a:br>
              <a:rPr lang="id-ID" sz="2400" dirty="0"/>
            </a:br>
            <a:r>
              <a:rPr lang="id-ID" sz="2400" dirty="0"/>
              <a:t>&lt;/BODY&gt;</a:t>
            </a:r>
            <a:br>
              <a:rPr lang="id-ID" sz="2400" dirty="0"/>
            </a:br>
            <a:r>
              <a:rPr lang="id-ID" sz="2400" dirty="0"/>
              <a:t>&lt;/HTML&gt;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A7C42D-222A-419E-9C26-E53CA042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366"/>
            <a:ext cx="10515600" cy="1325563"/>
          </a:xfrm>
        </p:spPr>
        <p:txBody>
          <a:bodyPr/>
          <a:lstStyle/>
          <a:p>
            <a:r>
              <a:rPr lang="id-ID" b="1" dirty="0"/>
              <a:t>Fungsi getdate()</a:t>
            </a:r>
            <a:r>
              <a:rPr lang="id-ID" dirty="0"/>
              <a:t/>
            </a:r>
            <a:br>
              <a:rPr lang="id-ID" dirty="0"/>
            </a:br>
            <a:endParaRPr lang="en-ID" dirty="0"/>
          </a:p>
        </p:txBody>
      </p:sp>
      <p:sp>
        <p:nvSpPr>
          <p:cNvPr id="3" name="Rectangle 2"/>
          <p:cNvSpPr/>
          <p:nvPr/>
        </p:nvSpPr>
        <p:spPr>
          <a:xfrm>
            <a:off x="579549" y="1017432"/>
            <a:ext cx="1085689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sz="4000" dirty="0"/>
              <a:t>Fungsi getdate() digunakan untuk mengambil nilai waktu lokal sekarang atau waktu timestamp dan waktu memasukkannya ke dalam array asosiatif. Sintaksnya adalah sebagai berikut</a:t>
            </a:r>
            <a:r>
              <a:rPr lang="id-ID" sz="4000" dirty="0" smtClean="0"/>
              <a:t>:</a:t>
            </a:r>
          </a:p>
          <a:p>
            <a:pPr algn="just"/>
            <a:endParaRPr lang="id-ID" sz="4000" dirty="0"/>
          </a:p>
          <a:p>
            <a:pPr algn="just"/>
            <a:endParaRPr lang="id-ID" sz="4000" b="1" i="1" dirty="0"/>
          </a:p>
          <a:p>
            <a:pPr algn="just"/>
            <a:r>
              <a:rPr lang="id-ID" sz="4000" b="1" i="1" dirty="0"/>
              <a:t>getdate([timestamp])</a:t>
            </a:r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16EDB2-BD3F-4E8E-B285-E7442D050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id-ID" dirty="0"/>
              <a:t>Elemen array yang dapat dipergunakan adalah sebagai berikut:</a:t>
            </a:r>
            <a:br>
              <a:rPr lang="id-ID" dirty="0"/>
            </a:br>
            <a:endParaRPr lang="en-ID" dirty="0"/>
          </a:p>
        </p:txBody>
      </p:sp>
      <p:sp>
        <p:nvSpPr>
          <p:cNvPr id="3" name="Rectangle 2"/>
          <p:cNvSpPr/>
          <p:nvPr/>
        </p:nvSpPr>
        <p:spPr>
          <a:xfrm>
            <a:off x="850010" y="1262129"/>
            <a:ext cx="1089552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2800" dirty="0"/>
              <a:t>"minutes" = menit</a:t>
            </a:r>
          </a:p>
          <a:p>
            <a:pPr lvl="0"/>
            <a:r>
              <a:rPr lang="id-ID" sz="2800" dirty="0"/>
              <a:t>"seconds" = detik</a:t>
            </a:r>
          </a:p>
          <a:p>
            <a:pPr lvl="0"/>
            <a:r>
              <a:rPr lang="id-ID" sz="2800" dirty="0"/>
              <a:t>"mday" = hari dalam satu bulan</a:t>
            </a:r>
          </a:p>
          <a:p>
            <a:pPr lvl="0"/>
            <a:r>
              <a:rPr lang="id-ID" sz="2800" dirty="0"/>
              <a:t>"hours" = jam, dalam format 24 jam.</a:t>
            </a:r>
          </a:p>
          <a:p>
            <a:pPr lvl="0"/>
            <a:r>
              <a:rPr lang="id-ID" sz="2800" dirty="0"/>
              <a:t>"wday" = hari dalam satu minggu, numeris, 0 untuk minggu hingga 6 untuk sabtu</a:t>
            </a:r>
          </a:p>
          <a:p>
            <a:pPr lvl="0"/>
            <a:r>
              <a:rPr lang="id-ID" sz="2800" dirty="0"/>
              <a:t>"mon" = bulan, numeris.</a:t>
            </a:r>
          </a:p>
          <a:p>
            <a:pPr lvl="0"/>
            <a:r>
              <a:rPr lang="id-ID" sz="2800" dirty="0"/>
              <a:t>"year" = tahun, numeris.</a:t>
            </a:r>
          </a:p>
          <a:p>
            <a:pPr lvl="0"/>
            <a:r>
              <a:rPr lang="id-ID" sz="2800" dirty="0"/>
              <a:t>"yday" = hari dalam satu tahun, misalnya "299"</a:t>
            </a:r>
          </a:p>
          <a:p>
            <a:pPr lvl="0"/>
            <a:r>
              <a:rPr lang="id-ID" sz="2800" dirty="0"/>
              <a:t>"weekday" = hari dalam satu minggu, tekstual penuh, misalnya "Friday"</a:t>
            </a:r>
          </a:p>
          <a:p>
            <a:pPr lvl="0"/>
            <a:r>
              <a:rPr lang="id-ID" sz="2800" dirty="0"/>
              <a:t>"month" = bulan, tekstual penuh, misalnya "January"</a:t>
            </a:r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5906C2-2270-4032-BA39-10E075F3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24"/>
            <a:ext cx="10515600" cy="1325563"/>
          </a:xfrm>
        </p:spPr>
        <p:txBody>
          <a:bodyPr/>
          <a:lstStyle/>
          <a:p>
            <a:pPr algn="r"/>
            <a:r>
              <a:rPr lang="id-ID" b="1" dirty="0"/>
              <a:t>Latihan </a:t>
            </a:r>
            <a:r>
              <a:rPr lang="id-ID" b="1" dirty="0" smtClean="0"/>
              <a:t>5.</a:t>
            </a:r>
            <a:r>
              <a:rPr lang="id-ID" dirty="0"/>
              <a:t/>
            </a:r>
            <a:br>
              <a:rPr lang="id-ID" dirty="0"/>
            </a:br>
            <a:endParaRPr lang="en-ID" dirty="0"/>
          </a:p>
        </p:txBody>
      </p:sp>
      <p:sp>
        <p:nvSpPr>
          <p:cNvPr id="3" name="Rectangle 2"/>
          <p:cNvSpPr/>
          <p:nvPr/>
        </p:nvSpPr>
        <p:spPr>
          <a:xfrm>
            <a:off x="613869" y="622755"/>
            <a:ext cx="4159917" cy="5632311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&lt;HTML&gt;</a:t>
            </a:r>
            <a:br>
              <a:rPr lang="id-ID" sz="2400" dirty="0"/>
            </a:br>
            <a:r>
              <a:rPr lang="id-ID" sz="2400" dirty="0"/>
              <a:t>&lt;HEAD&gt;</a:t>
            </a:r>
            <a:br>
              <a:rPr lang="id-ID" sz="2400" dirty="0"/>
            </a:br>
            <a:r>
              <a:rPr lang="id-ID" sz="2400" dirty="0"/>
              <a:t>&lt;TITLE&gt; Getdate &lt;/TITLE&gt;</a:t>
            </a:r>
            <a:br>
              <a:rPr lang="id-ID" sz="2400" dirty="0"/>
            </a:br>
            <a:r>
              <a:rPr lang="id-ID" sz="2400" dirty="0"/>
              <a:t>&lt;/HEAD&gt;</a:t>
            </a:r>
            <a:br>
              <a:rPr lang="id-ID" sz="2400" dirty="0"/>
            </a:br>
            <a:r>
              <a:rPr lang="id-ID" sz="2400" dirty="0"/>
              <a:t>&lt;BODY&gt;</a:t>
            </a:r>
            <a:br>
              <a:rPr lang="id-ID" sz="2400" dirty="0"/>
            </a:br>
            <a:r>
              <a:rPr lang="id-ID" sz="2400" dirty="0"/>
              <a:t>&lt;center&gt;</a:t>
            </a:r>
            <a:br>
              <a:rPr lang="id-ID" sz="2400" dirty="0"/>
            </a:br>
            <a:r>
              <a:rPr lang="id-ID" sz="2400" dirty="0"/>
              <a:t>&lt;h1&gt;</a:t>
            </a:r>
          </a:p>
          <a:p>
            <a:r>
              <a:rPr lang="id-ID" sz="2400" dirty="0"/>
              <a:t>&lt;?php</a:t>
            </a:r>
            <a:br>
              <a:rPr lang="id-ID" sz="2400" dirty="0"/>
            </a:br>
            <a:r>
              <a:rPr lang="id-ID" sz="2400" dirty="0"/>
              <a:t>$sekarang = getdate(); </a:t>
            </a:r>
            <a:br>
              <a:rPr lang="id-ID" sz="2400" dirty="0"/>
            </a:br>
            <a:r>
              <a:rPr lang="id-ID" sz="2400" dirty="0"/>
              <a:t>$bulan = $sekarang['month']; </a:t>
            </a:r>
            <a:br>
              <a:rPr lang="id-ID" sz="2400" dirty="0"/>
            </a:br>
            <a:r>
              <a:rPr lang="id-ID" sz="2400" dirty="0"/>
              <a:t>$hari = $sekarang ['mday']; </a:t>
            </a:r>
            <a:br>
              <a:rPr lang="id-ID" sz="2400" dirty="0"/>
            </a:br>
            <a:r>
              <a:rPr lang="id-ID" sz="2400" dirty="0"/>
              <a:t>$tahun = $sekarang ['year']; </a:t>
            </a:r>
            <a:br>
              <a:rPr lang="id-ID" sz="2400" dirty="0"/>
            </a:br>
            <a:r>
              <a:rPr lang="id-ID" sz="2400" dirty="0"/>
              <a:t>$jam = $sekarang['hours'];</a:t>
            </a:r>
            <a:br>
              <a:rPr lang="id-ID" sz="2400" dirty="0"/>
            </a:br>
            <a:r>
              <a:rPr lang="id-ID" sz="2400" dirty="0"/>
              <a:t>if ($jam &lt;= 11) {</a:t>
            </a:r>
            <a:br>
              <a:rPr lang="id-ID" sz="2400" dirty="0"/>
            </a:br>
            <a:endParaRPr lang="id-ID" sz="2400" dirty="0"/>
          </a:p>
        </p:txBody>
      </p:sp>
      <p:sp>
        <p:nvSpPr>
          <p:cNvPr id="4" name="Rectangle 3"/>
          <p:cNvSpPr/>
          <p:nvPr/>
        </p:nvSpPr>
        <p:spPr>
          <a:xfrm>
            <a:off x="4851060" y="661392"/>
            <a:ext cx="6108863" cy="5632311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400" dirty="0"/>
              <a:t>echo "Selamat Pagi";</a:t>
            </a:r>
            <a:br>
              <a:rPr lang="id-ID" sz="2400" dirty="0"/>
            </a:br>
            <a:r>
              <a:rPr lang="id-ID" sz="2400" dirty="0"/>
              <a:t>} elseif ($jam &gt; 11 and $jam &lt;= 15) {</a:t>
            </a:r>
            <a:br>
              <a:rPr lang="id-ID" sz="2400" dirty="0"/>
            </a:br>
            <a:r>
              <a:rPr lang="id-ID" sz="2400" dirty="0"/>
              <a:t>    echo "Selamat Siang";</a:t>
            </a:r>
            <a:br>
              <a:rPr lang="id-ID" sz="2400" dirty="0"/>
            </a:br>
            <a:r>
              <a:rPr lang="id-ID" sz="2400" dirty="0"/>
              <a:t>} elseif ($jam &gt; 15 and $jam &lt;= 18) {</a:t>
            </a:r>
            <a:br>
              <a:rPr lang="id-ID" sz="2400" dirty="0"/>
            </a:br>
            <a:r>
              <a:rPr lang="id-ID" sz="2400" dirty="0"/>
              <a:t>    echo "Selamat Sore";</a:t>
            </a:r>
            <a:br>
              <a:rPr lang="id-ID" sz="2400" dirty="0"/>
            </a:br>
            <a:r>
              <a:rPr lang="id-ID" sz="2400" dirty="0"/>
              <a:t>} elseif ($jam &gt; 18) {</a:t>
            </a:r>
            <a:br>
              <a:rPr lang="id-ID" sz="2400" dirty="0"/>
            </a:br>
            <a:r>
              <a:rPr lang="id-ID" sz="2400" dirty="0"/>
              <a:t>    echo "Selamat Malam";</a:t>
            </a:r>
            <a:br>
              <a:rPr lang="id-ID" sz="2400" dirty="0"/>
            </a:br>
            <a:r>
              <a:rPr lang="id-ID" sz="2400" dirty="0"/>
              <a:t>}</a:t>
            </a:r>
            <a:br>
              <a:rPr lang="id-ID" sz="2400" dirty="0"/>
            </a:br>
            <a:r>
              <a:rPr lang="id-ID" sz="2400" dirty="0"/>
              <a:t>?&gt;</a:t>
            </a:r>
          </a:p>
          <a:p>
            <a:r>
              <a:rPr lang="id-ID" sz="2400" dirty="0"/>
              <a:t>&lt;/h1&gt;</a:t>
            </a:r>
            <a:br>
              <a:rPr lang="id-ID" sz="2400" dirty="0"/>
            </a:br>
            <a:r>
              <a:rPr lang="id-ID" sz="2400" dirty="0"/>
              <a:t>&lt;h2&gt; Selamat datang&lt;/h2&gt;</a:t>
            </a:r>
            <a:br>
              <a:rPr lang="id-ID" sz="2400" dirty="0"/>
            </a:br>
            <a:r>
              <a:rPr lang="id-ID" sz="2400" dirty="0"/>
              <a:t>&lt;h3&gt; Sekarang adalah tanggal &lt;?php echo "$hari $bulan $tahun"; ?&gt;&lt;/h3&gt;</a:t>
            </a:r>
            <a:br>
              <a:rPr lang="id-ID" sz="2400" dirty="0"/>
            </a:br>
            <a:r>
              <a:rPr lang="id-ID" sz="2400" dirty="0"/>
              <a:t>&lt;/BODY&gt;</a:t>
            </a:r>
            <a:br>
              <a:rPr lang="id-ID" sz="2400" dirty="0"/>
            </a:br>
            <a:r>
              <a:rPr lang="id-ID" sz="2400" dirty="0"/>
              <a:t>&lt;/HTML&gt; 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1031851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A7C42D-222A-419E-9C26-E53CA042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7309"/>
            <a:ext cx="10515600" cy="1325563"/>
          </a:xfrm>
        </p:spPr>
        <p:txBody>
          <a:bodyPr/>
          <a:lstStyle/>
          <a:p>
            <a:r>
              <a:rPr lang="id-ID" b="1" dirty="0"/>
              <a:t>Fungsi String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579549" y="1236375"/>
            <a:ext cx="108568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b="1" dirty="0" err="1"/>
              <a:t>Strlen</a:t>
            </a:r>
            <a:r>
              <a:rPr lang="en-US" sz="3200" b="1" dirty="0"/>
              <a:t>(string)</a:t>
            </a:r>
            <a:r>
              <a:rPr lang="en-US" sz="3200" dirty="0"/>
              <a:t> : </a:t>
            </a:r>
            <a:r>
              <a:rPr lang="en-US" sz="3200" dirty="0" err="1"/>
              <a:t>mengetahui</a:t>
            </a:r>
            <a:r>
              <a:rPr lang="en-US" sz="3200" dirty="0"/>
              <a:t> </a:t>
            </a:r>
            <a:r>
              <a:rPr lang="en-US" sz="3200" dirty="0" err="1"/>
              <a:t>jumlah</a:t>
            </a:r>
            <a:r>
              <a:rPr lang="en-US" sz="3200" dirty="0"/>
              <a:t> </a:t>
            </a:r>
            <a:r>
              <a:rPr lang="en-US" sz="3200" dirty="0" err="1"/>
              <a:t>karakter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string</a:t>
            </a:r>
            <a:endParaRPr lang="id-ID" sz="3200" dirty="0"/>
          </a:p>
          <a:p>
            <a:pPr lvl="0"/>
            <a:r>
              <a:rPr lang="en-US" sz="3200" b="1" dirty="0" err="1"/>
              <a:t>Strtoupper</a:t>
            </a:r>
            <a:r>
              <a:rPr lang="en-US" sz="3200" b="1" dirty="0"/>
              <a:t>(string)</a:t>
            </a:r>
            <a:r>
              <a:rPr lang="en-US" sz="3200" dirty="0"/>
              <a:t> :  </a:t>
            </a:r>
            <a:r>
              <a:rPr lang="en-US" sz="3200" dirty="0" err="1"/>
              <a:t>mengubah</a:t>
            </a:r>
            <a:r>
              <a:rPr lang="en-US" sz="3200" dirty="0"/>
              <a:t> </a:t>
            </a:r>
            <a:r>
              <a:rPr lang="en-US" sz="3200" dirty="0" err="1"/>
              <a:t>huruf</a:t>
            </a:r>
            <a:r>
              <a:rPr lang="en-US" sz="3200" dirty="0"/>
              <a:t> </a:t>
            </a:r>
            <a:r>
              <a:rPr lang="en-US" sz="3200" dirty="0" err="1"/>
              <a:t>kecil</a:t>
            </a:r>
            <a:r>
              <a:rPr lang="en-US" sz="3200" dirty="0"/>
              <a:t>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huruf</a:t>
            </a:r>
            <a:r>
              <a:rPr lang="en-US" sz="3200" dirty="0"/>
              <a:t>  </a:t>
            </a:r>
            <a:r>
              <a:rPr lang="en-US" sz="3200" dirty="0" err="1"/>
              <a:t>besar</a:t>
            </a:r>
            <a:endParaRPr lang="id-ID" sz="3200" dirty="0"/>
          </a:p>
          <a:p>
            <a:pPr lvl="0"/>
            <a:r>
              <a:rPr lang="en-US" sz="3200" b="1" dirty="0" err="1"/>
              <a:t>Strtolower</a:t>
            </a:r>
            <a:r>
              <a:rPr lang="en-US" sz="3200" b="1" dirty="0"/>
              <a:t>(string)</a:t>
            </a:r>
            <a:r>
              <a:rPr lang="en-US" sz="3200" dirty="0"/>
              <a:t> : </a:t>
            </a:r>
            <a:r>
              <a:rPr lang="en-US" sz="3200" dirty="0" err="1"/>
              <a:t>mengubah</a:t>
            </a:r>
            <a:r>
              <a:rPr lang="en-US" sz="3200" dirty="0"/>
              <a:t> </a:t>
            </a:r>
            <a:r>
              <a:rPr lang="en-US" sz="3200" dirty="0" err="1"/>
              <a:t>huruf</a:t>
            </a:r>
            <a:r>
              <a:rPr lang="en-US" sz="3200" dirty="0"/>
              <a:t> </a:t>
            </a:r>
            <a:r>
              <a:rPr lang="en-US" sz="3200" dirty="0" err="1"/>
              <a:t>besar</a:t>
            </a:r>
            <a:r>
              <a:rPr lang="en-US" sz="3200" dirty="0"/>
              <a:t>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huruf</a:t>
            </a:r>
            <a:r>
              <a:rPr lang="en-US" sz="3200" dirty="0"/>
              <a:t> </a:t>
            </a:r>
            <a:r>
              <a:rPr lang="en-US" sz="3200" dirty="0" err="1"/>
              <a:t>kecil</a:t>
            </a:r>
            <a:endParaRPr lang="id-ID" sz="3200" dirty="0"/>
          </a:p>
          <a:p>
            <a:pPr lvl="0"/>
            <a:r>
              <a:rPr lang="en-US" sz="3200" b="1" dirty="0" err="1"/>
              <a:t>Ucfirst</a:t>
            </a:r>
            <a:r>
              <a:rPr lang="en-US" sz="3200" b="1" dirty="0"/>
              <a:t>(string)</a:t>
            </a:r>
            <a:r>
              <a:rPr lang="en-US" sz="3200" dirty="0"/>
              <a:t> : </a:t>
            </a:r>
            <a:r>
              <a:rPr lang="en-US" sz="3200" dirty="0" err="1"/>
              <a:t>mengubah</a:t>
            </a:r>
            <a:r>
              <a:rPr lang="en-US" sz="3200" dirty="0"/>
              <a:t> </a:t>
            </a:r>
            <a:r>
              <a:rPr lang="en-US" sz="3200" dirty="0" err="1"/>
              <a:t>huruf</a:t>
            </a:r>
            <a:r>
              <a:rPr lang="en-US" sz="3200" dirty="0"/>
              <a:t> </a:t>
            </a:r>
            <a:r>
              <a:rPr lang="en-US" sz="3200" dirty="0" err="1"/>
              <a:t>pertama</a:t>
            </a:r>
            <a:r>
              <a:rPr lang="en-US" sz="3200" dirty="0"/>
              <a:t> string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huruf</a:t>
            </a:r>
            <a:r>
              <a:rPr lang="en-US" sz="3200" dirty="0"/>
              <a:t>  </a:t>
            </a:r>
            <a:r>
              <a:rPr lang="en-US" sz="3200" dirty="0" err="1"/>
              <a:t>besar</a:t>
            </a:r>
            <a:endParaRPr lang="id-ID" sz="3200" dirty="0"/>
          </a:p>
          <a:p>
            <a:pPr lvl="0"/>
            <a:r>
              <a:rPr lang="en-US" sz="3200" b="1" dirty="0" err="1"/>
              <a:t>Ucwords</a:t>
            </a:r>
            <a:r>
              <a:rPr lang="en-US" sz="3200" b="1" dirty="0"/>
              <a:t>(string)</a:t>
            </a:r>
            <a:r>
              <a:rPr lang="en-US" sz="3200" dirty="0"/>
              <a:t> : </a:t>
            </a:r>
            <a:r>
              <a:rPr lang="en-US" sz="3200" dirty="0" err="1"/>
              <a:t>mengubah</a:t>
            </a:r>
            <a:r>
              <a:rPr lang="en-US" sz="3200" dirty="0"/>
              <a:t> </a:t>
            </a:r>
            <a:r>
              <a:rPr lang="en-US" sz="3200" dirty="0" err="1"/>
              <a:t>huruf</a:t>
            </a:r>
            <a:r>
              <a:rPr lang="en-US" sz="3200" dirty="0"/>
              <a:t> </a:t>
            </a:r>
            <a:r>
              <a:rPr lang="en-US" sz="3200" dirty="0" err="1"/>
              <a:t>pertama</a:t>
            </a:r>
            <a:r>
              <a:rPr lang="en-US" sz="3200" dirty="0"/>
              <a:t> </a:t>
            </a:r>
            <a:r>
              <a:rPr lang="en-US" sz="3200" dirty="0" err="1"/>
              <a:t>setiap</a:t>
            </a:r>
            <a:r>
              <a:rPr lang="en-US" sz="3200" dirty="0"/>
              <a:t> kata 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huruf</a:t>
            </a:r>
            <a:r>
              <a:rPr lang="en-US" sz="3200" dirty="0"/>
              <a:t> </a:t>
            </a:r>
            <a:r>
              <a:rPr lang="en-US" sz="3200" dirty="0" err="1"/>
              <a:t>besar</a:t>
            </a:r>
            <a:endParaRPr lang="id-ID" sz="3200" dirty="0"/>
          </a:p>
          <a:p>
            <a:pPr lvl="0"/>
            <a:r>
              <a:rPr lang="nb-NO" sz="3200" b="1" dirty="0"/>
              <a:t>Ltrim(string)</a:t>
            </a:r>
            <a:r>
              <a:rPr lang="nb-NO" sz="3200" dirty="0"/>
              <a:t> : menghapus spasi diawal string</a:t>
            </a:r>
            <a:endParaRPr lang="id-ID" sz="3200" dirty="0"/>
          </a:p>
          <a:p>
            <a:pPr lvl="0"/>
            <a:r>
              <a:rPr lang="nb-NO" sz="3200" b="1" dirty="0"/>
              <a:t>Rtrim(string)</a:t>
            </a:r>
            <a:r>
              <a:rPr lang="nb-NO" sz="3200" dirty="0"/>
              <a:t> : menghapus spasi diakhir </a:t>
            </a:r>
            <a:r>
              <a:rPr lang="nb-NO" sz="3200" dirty="0" smtClean="0"/>
              <a:t>string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359016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A7C42D-222A-419E-9C26-E53CA042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7309"/>
            <a:ext cx="10515600" cy="1325563"/>
          </a:xfrm>
        </p:spPr>
        <p:txBody>
          <a:bodyPr/>
          <a:lstStyle/>
          <a:p>
            <a:r>
              <a:rPr lang="id-ID" b="1" dirty="0"/>
              <a:t>Fungsi </a:t>
            </a:r>
            <a:r>
              <a:rPr lang="id-ID" b="1" dirty="0" smtClean="0"/>
              <a:t>String Lanjutan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579549" y="1236375"/>
            <a:ext cx="108568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nb-NO" sz="3200" b="1" dirty="0"/>
              <a:t>Trim(string)</a:t>
            </a:r>
            <a:r>
              <a:rPr lang="nb-NO" sz="3200" dirty="0"/>
              <a:t> : menghapus spasi baik diawal atau diakhir string</a:t>
            </a:r>
            <a:endParaRPr lang="id-ID" sz="3200" dirty="0"/>
          </a:p>
          <a:p>
            <a:pPr lvl="0"/>
            <a:r>
              <a:rPr lang="en-US" sz="3200" b="1" dirty="0" err="1"/>
              <a:t>Substr</a:t>
            </a:r>
            <a:r>
              <a:rPr lang="en-US" sz="3200" b="1" dirty="0"/>
              <a:t>(string, </a:t>
            </a:r>
            <a:r>
              <a:rPr lang="en-US" sz="3200" b="1" dirty="0" err="1"/>
              <a:t>awal</a:t>
            </a:r>
            <a:r>
              <a:rPr lang="en-US" sz="3200" b="1" dirty="0"/>
              <a:t>, </a:t>
            </a:r>
            <a:r>
              <a:rPr lang="en-US" sz="3200" b="1" dirty="0" err="1"/>
              <a:t>jumlah</a:t>
            </a:r>
            <a:r>
              <a:rPr lang="en-US" sz="3200" b="1" dirty="0"/>
              <a:t>)</a:t>
            </a:r>
            <a:r>
              <a:rPr lang="en-US" sz="3200" dirty="0"/>
              <a:t> : </a:t>
            </a:r>
            <a:r>
              <a:rPr lang="en-US" sz="3200" dirty="0" err="1"/>
              <a:t>memotong</a:t>
            </a:r>
            <a:r>
              <a:rPr lang="en-US" sz="3200" dirty="0"/>
              <a:t> string </a:t>
            </a:r>
            <a:r>
              <a:rPr lang="en-US" sz="3200" dirty="0" err="1"/>
              <a:t>dimulai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posisi</a:t>
            </a:r>
            <a:r>
              <a:rPr lang="en-US" sz="3200" dirty="0"/>
              <a:t> </a:t>
            </a:r>
            <a:r>
              <a:rPr lang="en-US" sz="3200" i="1" dirty="0" err="1"/>
              <a:t>awal</a:t>
            </a:r>
            <a:r>
              <a:rPr lang="en-US" sz="3200" dirty="0"/>
              <a:t> </a:t>
            </a:r>
            <a:r>
              <a:rPr lang="en-US" sz="3200" dirty="0" err="1"/>
              <a:t>sebanyak</a:t>
            </a:r>
            <a:r>
              <a:rPr lang="en-US" sz="3200" dirty="0"/>
              <a:t> </a:t>
            </a:r>
            <a:r>
              <a:rPr lang="en-US" sz="3200" i="1" dirty="0" err="1"/>
              <a:t>jumlah</a:t>
            </a:r>
            <a:r>
              <a:rPr lang="en-US" sz="3200" dirty="0"/>
              <a:t> </a:t>
            </a:r>
            <a:r>
              <a:rPr lang="en-US" sz="3200" dirty="0" err="1"/>
              <a:t>karakter</a:t>
            </a:r>
            <a:endParaRPr lang="id-ID" sz="3200" dirty="0"/>
          </a:p>
          <a:p>
            <a:pPr lvl="0"/>
            <a:r>
              <a:rPr lang="en-US" sz="3200" b="1" dirty="0" err="1"/>
              <a:t>Substr_count</a:t>
            </a:r>
            <a:r>
              <a:rPr lang="en-US" sz="3200" b="1" dirty="0"/>
              <a:t>(string, substring)</a:t>
            </a:r>
            <a:r>
              <a:rPr lang="en-US" sz="3200" dirty="0"/>
              <a:t> : </a:t>
            </a:r>
            <a:r>
              <a:rPr lang="en-US" sz="3200" dirty="0" err="1"/>
              <a:t>menghitung</a:t>
            </a:r>
            <a:r>
              <a:rPr lang="en-US" sz="3200" dirty="0"/>
              <a:t> </a:t>
            </a:r>
            <a:r>
              <a:rPr lang="en-US" sz="3200" dirty="0" err="1"/>
              <a:t>jumlah</a:t>
            </a:r>
            <a:r>
              <a:rPr lang="en-US" sz="3200" dirty="0"/>
              <a:t>  substring </a:t>
            </a:r>
            <a:r>
              <a:rPr lang="en-US" sz="3200" dirty="0" err="1"/>
              <a:t>dalam</a:t>
            </a:r>
            <a:r>
              <a:rPr lang="en-US" sz="3200" dirty="0"/>
              <a:t> string</a:t>
            </a:r>
            <a:endParaRPr lang="id-ID" sz="3200" dirty="0"/>
          </a:p>
          <a:p>
            <a:pPr lvl="0"/>
            <a:r>
              <a:rPr lang="en-US" sz="3200" b="1" dirty="0" err="1"/>
              <a:t>Strpos</a:t>
            </a:r>
            <a:r>
              <a:rPr lang="en-US" sz="3200" b="1" dirty="0"/>
              <a:t>(string, </a:t>
            </a:r>
            <a:r>
              <a:rPr lang="en-US" sz="3200" b="1" dirty="0" err="1"/>
              <a:t>karakter</a:t>
            </a:r>
            <a:r>
              <a:rPr lang="en-US" sz="3200" b="1" dirty="0"/>
              <a:t>)</a:t>
            </a:r>
            <a:r>
              <a:rPr lang="en-US" sz="3200" dirty="0"/>
              <a:t> : </a:t>
            </a:r>
            <a:r>
              <a:rPr lang="en-US" sz="3200" dirty="0" err="1"/>
              <a:t>mengetahui</a:t>
            </a:r>
            <a:r>
              <a:rPr lang="en-US" sz="3200" dirty="0"/>
              <a:t> </a:t>
            </a:r>
            <a:r>
              <a:rPr lang="en-US" sz="3200" dirty="0" err="1"/>
              <a:t>posisi</a:t>
            </a:r>
            <a:r>
              <a:rPr lang="en-US" sz="3200" dirty="0"/>
              <a:t> </a:t>
            </a:r>
            <a:r>
              <a:rPr lang="en-US" sz="3200" dirty="0" err="1"/>
              <a:t>suatu</a:t>
            </a:r>
            <a:r>
              <a:rPr lang="en-US" sz="3200" dirty="0"/>
              <a:t> </a:t>
            </a:r>
            <a:r>
              <a:rPr lang="en-US" sz="3200" dirty="0" err="1"/>
              <a:t>karakter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string</a:t>
            </a:r>
            <a:endParaRPr lang="id-ID" sz="3200" dirty="0"/>
          </a:p>
          <a:p>
            <a:pPr lvl="0"/>
            <a:r>
              <a:rPr lang="id-ID" sz="3200" b="1" dirty="0"/>
              <a:t>Addcslashes(string, parameter)</a:t>
            </a:r>
            <a:r>
              <a:rPr lang="id-ID" sz="3200" dirty="0"/>
              <a:t> : menambahkan karakter </a:t>
            </a:r>
            <a:r>
              <a:rPr lang="id-ID" sz="3200" dirty="0" smtClean="0"/>
              <a:t>backslahsh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1593250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A7C42D-222A-419E-9C26-E53CA042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7309"/>
            <a:ext cx="10515600" cy="1325563"/>
          </a:xfrm>
        </p:spPr>
        <p:txBody>
          <a:bodyPr/>
          <a:lstStyle/>
          <a:p>
            <a:r>
              <a:rPr lang="id-ID" b="1" dirty="0"/>
              <a:t>Fungsi </a:t>
            </a:r>
            <a:r>
              <a:rPr lang="id-ID" b="1" dirty="0" smtClean="0"/>
              <a:t>String Lanjutan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579549" y="1236375"/>
            <a:ext cx="108568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3200" b="1" dirty="0"/>
              <a:t>Stripslashes(string)</a:t>
            </a:r>
            <a:r>
              <a:rPr lang="id-ID" sz="3200" dirty="0"/>
              <a:t> : menghilangkan karakter backslash</a:t>
            </a:r>
          </a:p>
          <a:p>
            <a:pPr lvl="0"/>
            <a:r>
              <a:rPr lang="id-ID" sz="3200" b="1" dirty="0"/>
              <a:t>Strip_tags(string [, string tags yang tidak dihilangkan])</a:t>
            </a:r>
            <a:r>
              <a:rPr lang="id-ID" sz="3200" dirty="0"/>
              <a:t> : menghilangkan kode tag HTML</a:t>
            </a:r>
          </a:p>
          <a:p>
            <a:pPr lvl="0"/>
            <a:r>
              <a:rPr lang="id-ID" sz="3200" b="1" dirty="0"/>
              <a:t>Htmlentities(string)</a:t>
            </a:r>
            <a:r>
              <a:rPr lang="id-ID" sz="3200" dirty="0"/>
              <a:t> : menghentikan proses penerjemahan tag html oleh browser</a:t>
            </a:r>
          </a:p>
          <a:p>
            <a:pPr lvl="0"/>
            <a:r>
              <a:rPr lang="id-ID" sz="3200" b="1" dirty="0"/>
              <a:t>Strrev(string) </a:t>
            </a:r>
            <a:r>
              <a:rPr lang="en-US" sz="3200" dirty="0"/>
              <a:t>:</a:t>
            </a:r>
            <a:r>
              <a:rPr lang="id-ID" sz="3200" dirty="0"/>
              <a:t> membalik karakter yang terdapat pada string.</a:t>
            </a:r>
          </a:p>
          <a:p>
            <a:pPr lvl="0"/>
            <a:r>
              <a:rPr lang="id-ID" sz="3200" b="1" dirty="0"/>
              <a:t>Str_replace(yang diganti, pengganti, tujuan) </a:t>
            </a:r>
            <a:r>
              <a:rPr lang="en-US" sz="3200" dirty="0"/>
              <a:t>:</a:t>
            </a:r>
            <a:r>
              <a:rPr lang="id-ID" sz="3200" dirty="0"/>
              <a:t> mengganti string dengan string lain.</a:t>
            </a:r>
          </a:p>
          <a:p>
            <a:pPr lvl="0"/>
            <a:r>
              <a:rPr lang="id-ID" sz="3200" b="1" dirty="0"/>
              <a:t>Strpos(tujuan, pencari) </a:t>
            </a:r>
            <a:r>
              <a:rPr lang="en-US" sz="3200" dirty="0"/>
              <a:t>:</a:t>
            </a:r>
            <a:r>
              <a:rPr lang="id-ID" sz="3200" dirty="0"/>
              <a:t> mengetahui posisi string dalam string</a:t>
            </a:r>
          </a:p>
        </p:txBody>
      </p:sp>
    </p:spTree>
    <p:extLst>
      <p:ext uri="{BB962C8B-B14F-4D97-AF65-F5344CB8AC3E}">
        <p14:creationId xmlns:p14="http://schemas.microsoft.com/office/powerpoint/2010/main" val="2730122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A7C42D-222A-419E-9C26-E53CA042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7309"/>
            <a:ext cx="10515600" cy="1325563"/>
          </a:xfrm>
        </p:spPr>
        <p:txBody>
          <a:bodyPr/>
          <a:lstStyle/>
          <a:p>
            <a:r>
              <a:rPr lang="id-ID" b="1" dirty="0"/>
              <a:t>Fungsi Memanggil File Lain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579549" y="1236375"/>
            <a:ext cx="1085689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id-ID" sz="3200" b="1" dirty="0"/>
              <a:t>Fungsi require()</a:t>
            </a:r>
            <a:endParaRPr lang="id-ID" sz="3200" dirty="0"/>
          </a:p>
          <a:p>
            <a:r>
              <a:rPr lang="id-ID" sz="3200" b="1" dirty="0"/>
              <a:t>Require(“nama file.php”)</a:t>
            </a:r>
            <a:endParaRPr lang="id-ID" sz="3200" dirty="0"/>
          </a:p>
          <a:p>
            <a:pPr lvl="0"/>
            <a:r>
              <a:rPr lang="id-ID" sz="3200" b="1" dirty="0"/>
              <a:t>Fungsi include()</a:t>
            </a:r>
            <a:endParaRPr lang="id-ID" sz="3200" dirty="0"/>
          </a:p>
          <a:p>
            <a:r>
              <a:rPr lang="id-ID" sz="3200" b="1" dirty="0"/>
              <a:t>Include(“nama file.php)</a:t>
            </a:r>
            <a:endParaRPr lang="id-ID" sz="3200" dirty="0"/>
          </a:p>
          <a:p>
            <a:pPr lvl="0"/>
            <a:r>
              <a:rPr lang="id-ID" sz="3200" b="1" dirty="0"/>
              <a:t>Fungsi include_once()</a:t>
            </a:r>
            <a:endParaRPr lang="id-ID" sz="3200" dirty="0"/>
          </a:p>
          <a:p>
            <a:r>
              <a:rPr lang="id-ID" sz="3200" b="1" dirty="0"/>
              <a:t>Include_once(“nama file.php”)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3910580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475AD7-8A07-4659-B9DC-C6D50242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728</Words>
  <Application>Microsoft Office PowerPoint</Application>
  <PresentationFormat>Custom</PresentationFormat>
  <Paragraphs>120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6.2  Jenis-jenis fungsi Buit-In Fungsi Tanggal </vt:lpstr>
      <vt:lpstr>Tabel di bawah ini memperlihatkan bagaimana format waktu yang akan dihasilkan jika nilai argumen yang dimasukkan sebagai berikut : </vt:lpstr>
      <vt:lpstr>PowerPoint Presentation</vt:lpstr>
      <vt:lpstr>PowerPoint Presentation</vt:lpstr>
      <vt:lpstr>PowerPoint Presentation</vt:lpstr>
      <vt:lpstr>Latihan 4. </vt:lpstr>
      <vt:lpstr>Fungsi getdate() </vt:lpstr>
      <vt:lpstr>Elemen array yang dapat dipergunakan adalah sebagai berikut: </vt:lpstr>
      <vt:lpstr>Latihan 5. </vt:lpstr>
      <vt:lpstr>Fungsi String</vt:lpstr>
      <vt:lpstr>Fungsi String Lanjutan</vt:lpstr>
      <vt:lpstr>Fungsi String Lanjutan</vt:lpstr>
      <vt:lpstr>Fungsi Memanggil File Lain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zainudin</cp:lastModifiedBy>
  <cp:revision>11</cp:revision>
  <dcterms:created xsi:type="dcterms:W3CDTF">2021-08-16T10:58:02Z</dcterms:created>
  <dcterms:modified xsi:type="dcterms:W3CDTF">2021-08-28T14:34:42Z</dcterms:modified>
</cp:coreProperties>
</file>