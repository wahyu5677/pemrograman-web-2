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74" r:id="rId11"/>
    <p:sldId id="283" r:id="rId12"/>
    <p:sldId id="284" r:id="rId13"/>
    <p:sldId id="275" r:id="rId14"/>
    <p:sldId id="285" r:id="rId15"/>
    <p:sldId id="276" r:id="rId16"/>
    <p:sldId id="282" r:id="rId17"/>
    <p:sldId id="287" r:id="rId18"/>
    <p:sldId id="28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B8B3090F-55CA-48B6-AE9D-1026C3C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299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id-ID" b="1" dirty="0" smtClean="0"/>
              <a:t>PERTEMUAN  6</a:t>
            </a:r>
            <a:br>
              <a:rPr lang="id-ID" b="1" dirty="0" smtClean="0"/>
            </a:br>
            <a:r>
              <a:rPr lang="id-ID" b="1" dirty="0"/>
              <a:t>BAB V  </a:t>
            </a:r>
            <a:r>
              <a:rPr lang="id-ID" b="1" dirty="0" smtClean="0"/>
              <a:t>ARRAY </a:t>
            </a:r>
            <a:r>
              <a:rPr lang="id-ID" b="1" dirty="0"/>
              <a:t/>
            </a:r>
            <a:br>
              <a:rPr lang="id-ID" b="1" dirty="0"/>
            </a:br>
            <a:endParaRPr lang="id-ID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8B3090F-55CA-48B6-AE9D-1026C3C1790C}"/>
              </a:ext>
            </a:extLst>
          </p:cNvPr>
          <p:cNvSpPr txBox="1">
            <a:spLocks/>
          </p:cNvSpPr>
          <p:nvPr/>
        </p:nvSpPr>
        <p:spPr>
          <a:xfrm>
            <a:off x="990600" y="18205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 smtClean="0">
                <a:latin typeface="Algerian" panose="04020705040A02060702" pitchFamily="82" charset="0"/>
              </a:rPr>
              <a:t>PEMROGRAMAN WEB 2</a:t>
            </a:r>
            <a:br>
              <a:rPr lang="id-ID" b="1" dirty="0" smtClean="0">
                <a:latin typeface="Algerian" panose="04020705040A02060702" pitchFamily="82" charset="0"/>
              </a:rPr>
            </a:br>
            <a:endParaRPr lang="en-ID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122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5.1  Insisialisasi Array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107583" y="1532586"/>
            <a:ext cx="104576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3600" dirty="0"/>
              <a:t>Array merupakan kumpulan beberapa data yang disimpan dalam satu variabel.  </a:t>
            </a:r>
            <a:endParaRPr lang="id-ID" sz="3600" dirty="0" smtClean="0"/>
          </a:p>
          <a:p>
            <a:r>
              <a:rPr lang="id-ID" sz="3600" dirty="0" smtClean="0"/>
              <a:t>Jadi</a:t>
            </a:r>
            <a:r>
              <a:rPr lang="id-ID" sz="3600" dirty="0"/>
              <a:t>, berbeda dengan variabel sebelumnya yang hanya menyimpan satu nilai saja, array dapat menampung lebih dari satu nilai.</a:t>
            </a:r>
            <a:endParaRPr lang="id-ID" sz="3600" i="1" dirty="0"/>
          </a:p>
        </p:txBody>
      </p:sp>
    </p:spTree>
    <p:extLst>
      <p:ext uri="{BB962C8B-B14F-4D97-AF65-F5344CB8AC3E}">
        <p14:creationId xmlns:p14="http://schemas.microsoft.com/office/powerpoint/2010/main" val="414327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/>
              <a:t>  </a:t>
            </a:r>
            <a:r>
              <a:rPr lang="id-ID" b="1" dirty="0"/>
              <a:t>Insisialisasi </a:t>
            </a:r>
            <a:r>
              <a:rPr lang="id-ID" b="1" dirty="0" smtClean="0"/>
              <a:t>Array Lanjutan</a:t>
            </a:r>
            <a:endParaRPr lang="id-ID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199" y="2202081"/>
            <a:ext cx="92985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	</a:t>
            </a:r>
            <a:r>
              <a:rPr kumimoji="0" lang="en-US" alt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$</a:t>
            </a:r>
            <a:r>
              <a:rPr kumimoji="0" lang="en-US" altLang="id-ID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nama</a:t>
            </a:r>
            <a:endParaRPr kumimoji="0" lang="id-ID" alt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Tiap nilai dalam array (disebut elemen) diakses dengan menggunakan index. PHP mengenal dua macam index, yaitu index numerik dan index asosiatif.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Index numerik menggunakan angka untuk menandai tiap elemen, sedangkan index assosiatif memberi nama untuk masing-masing elemen.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228983"/>
              </p:ext>
            </p:extLst>
          </p:nvPr>
        </p:nvGraphicFramePr>
        <p:xfrm>
          <a:off x="838198" y="1676589"/>
          <a:ext cx="6142151" cy="456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4546"/>
                <a:gridCol w="1609859"/>
                <a:gridCol w="2897746"/>
              </a:tblGrid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2800" dirty="0">
                          <a:effectLst/>
                        </a:rPr>
                        <a:t>Charlie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2800" dirty="0">
                          <a:effectLst/>
                        </a:rPr>
                        <a:t>Ariel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2800" dirty="0">
                          <a:effectLst/>
                        </a:rPr>
                        <a:t>Budiman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34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/>
              <a:t>  </a:t>
            </a:r>
            <a:r>
              <a:rPr lang="id-ID" b="1" dirty="0"/>
              <a:t>Insisialisasi </a:t>
            </a:r>
            <a:r>
              <a:rPr lang="id-ID" b="1" dirty="0" smtClean="0"/>
              <a:t>Array Lanjutan</a:t>
            </a:r>
            <a:endParaRPr lang="id-ID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199" y="927061"/>
            <a:ext cx="92985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$</a:t>
            </a:r>
            <a:r>
              <a:rPr lang="en-US" sz="2800" b="1" dirty="0" err="1"/>
              <a:t>kota</a:t>
            </a:r>
            <a:r>
              <a:rPr lang="en-US" sz="2800" b="1" dirty="0"/>
              <a:t> = array {“</a:t>
            </a:r>
            <a:r>
              <a:rPr lang="en-US" sz="2800" b="1" dirty="0" err="1"/>
              <a:t>Yogya</a:t>
            </a:r>
            <a:r>
              <a:rPr lang="en-US" sz="2800" b="1" dirty="0"/>
              <a:t>”,”</a:t>
            </a:r>
            <a:r>
              <a:rPr lang="en-US" sz="2800" b="1" dirty="0" err="1"/>
              <a:t>Solo”,”Bandung”,”Bogor</a:t>
            </a:r>
            <a:r>
              <a:rPr lang="en-US" sz="2800" b="1" dirty="0" smtClean="0"/>
              <a:t>”}</a:t>
            </a:r>
            <a:endParaRPr lang="id-ID" sz="2800" b="1" dirty="0" smtClean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/>
          </a:p>
          <a:p>
            <a:r>
              <a:rPr lang="fi-FI" sz="2800" dirty="0"/>
              <a:t>$kota[]=”Yogya”;</a:t>
            </a:r>
            <a:endParaRPr lang="id-ID" sz="2800" dirty="0"/>
          </a:p>
          <a:p>
            <a:r>
              <a:rPr lang="fi-FI" sz="2800" dirty="0"/>
              <a:t>$kota[]=”Solo”;</a:t>
            </a:r>
            <a:endParaRPr lang="id-ID" sz="2800" dirty="0"/>
          </a:p>
          <a:p>
            <a:r>
              <a:rPr lang="fi-FI" sz="2800" dirty="0"/>
              <a:t>$kota[]=”Bandung”;</a:t>
            </a:r>
            <a:endParaRPr lang="id-ID" sz="2800" dirty="0"/>
          </a:p>
          <a:p>
            <a:r>
              <a:rPr lang="fi-FI" sz="2800" dirty="0"/>
              <a:t>$kota[]=”Bogor”;</a:t>
            </a:r>
            <a:endParaRPr lang="id-ID" sz="2800" dirty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929823"/>
              </p:ext>
            </p:extLst>
          </p:nvPr>
        </p:nvGraphicFramePr>
        <p:xfrm>
          <a:off x="1455313" y="4097567"/>
          <a:ext cx="9144000" cy="1668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042"/>
                <a:gridCol w="2724266"/>
                <a:gridCol w="2092433"/>
                <a:gridCol w="2524259"/>
              </a:tblGrid>
              <a:tr h="10282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 err="1">
                          <a:effectLst/>
                        </a:rPr>
                        <a:t>Yogya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Solo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effectLst/>
                        </a:rPr>
                        <a:t>Bandung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Bogor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effectLst/>
                        </a:rPr>
                        <a:t>3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89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/>
              <a:t>  </a:t>
            </a:r>
            <a:r>
              <a:rPr lang="id-ID" b="1" dirty="0"/>
              <a:t>Insisialisasi </a:t>
            </a:r>
            <a:r>
              <a:rPr lang="id-ID" b="1" dirty="0" smtClean="0"/>
              <a:t>Array Lanjutan</a:t>
            </a:r>
            <a:endParaRPr lang="id-ID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8199" y="927061"/>
            <a:ext cx="92985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$</a:t>
            </a:r>
            <a:r>
              <a:rPr lang="en-US" sz="2800" b="1" dirty="0" err="1"/>
              <a:t>kota</a:t>
            </a:r>
            <a:r>
              <a:rPr lang="en-US" sz="2800" b="1" dirty="0"/>
              <a:t> = array {“</a:t>
            </a:r>
            <a:r>
              <a:rPr lang="en-US" sz="2800" b="1" dirty="0" err="1"/>
              <a:t>Yogya</a:t>
            </a:r>
            <a:r>
              <a:rPr lang="en-US" sz="2800" b="1" dirty="0"/>
              <a:t>”,”</a:t>
            </a:r>
            <a:r>
              <a:rPr lang="en-US" sz="2800" b="1" dirty="0" err="1"/>
              <a:t>Solo”,”Bandung”,”Bogor</a:t>
            </a:r>
            <a:r>
              <a:rPr lang="en-US" sz="2800" b="1" dirty="0" smtClean="0"/>
              <a:t>”}</a:t>
            </a:r>
            <a:endParaRPr lang="id-ID" sz="2800" b="1" dirty="0" smtClean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b="1" dirty="0"/>
          </a:p>
          <a:p>
            <a:r>
              <a:rPr lang="fi-FI" sz="2800" dirty="0"/>
              <a:t>$kota[]=”Yogya”;</a:t>
            </a:r>
            <a:endParaRPr lang="id-ID" sz="2800" dirty="0"/>
          </a:p>
          <a:p>
            <a:r>
              <a:rPr lang="fi-FI" sz="2800" dirty="0"/>
              <a:t>$kota[]=”Solo”;</a:t>
            </a:r>
            <a:endParaRPr lang="id-ID" sz="2800" dirty="0"/>
          </a:p>
          <a:p>
            <a:r>
              <a:rPr lang="fi-FI" sz="2800" dirty="0"/>
              <a:t>$kota[]=”Bandung”;</a:t>
            </a:r>
            <a:endParaRPr lang="id-ID" sz="2800" dirty="0"/>
          </a:p>
          <a:p>
            <a:r>
              <a:rPr lang="fi-FI" sz="2800" dirty="0"/>
              <a:t>$kota[]=”Bogor”;</a:t>
            </a:r>
            <a:endParaRPr lang="id-ID" sz="2800" dirty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id-ID" sz="28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872998"/>
              </p:ext>
            </p:extLst>
          </p:nvPr>
        </p:nvGraphicFramePr>
        <p:xfrm>
          <a:off x="1455313" y="4097567"/>
          <a:ext cx="9144000" cy="1668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3042"/>
                <a:gridCol w="2724266"/>
                <a:gridCol w="2092433"/>
                <a:gridCol w="2524259"/>
              </a:tblGrid>
              <a:tr h="10282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 err="1">
                          <a:effectLst/>
                        </a:rPr>
                        <a:t>Yogya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Solo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effectLst/>
                        </a:rPr>
                        <a:t>Bandung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Bogor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190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0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1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effectLst/>
                        </a:rPr>
                        <a:t>2</a:t>
                      </a:r>
                      <a:endParaRPr lang="id-ID" sz="28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effectLst/>
                        </a:rPr>
                        <a:t>3</a:t>
                      </a:r>
                      <a:endParaRPr lang="id-ID" sz="28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95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44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Contoh penulisan array</a:t>
            </a:r>
            <a:endParaRPr lang="id-ID" dirty="0"/>
          </a:p>
          <a:p>
            <a:r>
              <a:rPr lang="id-ID" b="1" dirty="0"/>
              <a:t>Cara 1 :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1160181" y="1130415"/>
            <a:ext cx="11353799" cy="5016758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/>
              <a:t>&lt;?</a:t>
            </a:r>
            <a:r>
              <a:rPr lang="en-US" sz="3200" dirty="0" err="1"/>
              <a:t>Php</a:t>
            </a:r>
            <a:endParaRPr lang="id-ID" sz="3200" dirty="0"/>
          </a:p>
          <a:p>
            <a:r>
              <a:rPr lang="en-US" sz="3200" dirty="0"/>
              <a:t>   $personal = array {</a:t>
            </a:r>
            <a:endParaRPr lang="id-ID" sz="3200" dirty="0"/>
          </a:p>
          <a:p>
            <a:r>
              <a:rPr lang="en-US" sz="3200" dirty="0"/>
              <a:t>       </a:t>
            </a:r>
            <a:r>
              <a:rPr lang="fi-FI" sz="3200" dirty="0"/>
              <a:t>“nama” =&gt; “Salman”,</a:t>
            </a:r>
            <a:endParaRPr lang="id-ID" sz="3200" dirty="0"/>
          </a:p>
          <a:p>
            <a:r>
              <a:rPr lang="fi-FI" sz="3200" dirty="0"/>
              <a:t>       “kendaraan” =&gt; “Minibus”,</a:t>
            </a:r>
            <a:endParaRPr lang="id-ID" sz="3200" dirty="0"/>
          </a:p>
          <a:p>
            <a:r>
              <a:rPr lang="fi-FI" sz="3200" dirty="0"/>
              <a:t>       “rumah =&gt; “Perumnas”</a:t>
            </a:r>
            <a:endParaRPr lang="id-ID" sz="3200" dirty="0"/>
          </a:p>
          <a:p>
            <a:r>
              <a:rPr lang="fi-FI" sz="3200" dirty="0"/>
              <a:t>        };</a:t>
            </a:r>
            <a:endParaRPr lang="id-ID" sz="3200" dirty="0"/>
          </a:p>
          <a:p>
            <a:r>
              <a:rPr lang="fi-FI" sz="3200" dirty="0"/>
              <a:t>   Print $personal[“nama”] . “\n”;</a:t>
            </a:r>
            <a:endParaRPr lang="id-ID" sz="3200" dirty="0"/>
          </a:p>
          <a:p>
            <a:r>
              <a:rPr lang="fi-FI" sz="3200" dirty="0"/>
              <a:t>   Print $personal[“kendaraan”] . “\n”;</a:t>
            </a:r>
            <a:endParaRPr lang="id-ID" sz="3200" dirty="0"/>
          </a:p>
          <a:p>
            <a:r>
              <a:rPr lang="fi-FI" sz="3200" dirty="0"/>
              <a:t>   Print $personal[“rumah”].”\n”;</a:t>
            </a:r>
            <a:endParaRPr lang="id-ID" sz="3200" dirty="0"/>
          </a:p>
          <a:p>
            <a:r>
              <a:rPr lang="fi-FI" sz="3200" dirty="0"/>
              <a:t>?&gt;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71722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447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 smtClean="0"/>
              <a:t>Contoh penulisan array</a:t>
            </a:r>
            <a:endParaRPr lang="id-ID" dirty="0" smtClean="0"/>
          </a:p>
          <a:p>
            <a:r>
              <a:rPr lang="id-ID" b="1" dirty="0" smtClean="0"/>
              <a:t>Cara 2 :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1160181" y="1130415"/>
            <a:ext cx="11353799" cy="452431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3200" b="1" dirty="0"/>
              <a:t> </a:t>
            </a:r>
            <a:r>
              <a:rPr lang="fi-FI" sz="3200" dirty="0"/>
              <a:t>&lt;?Ph</a:t>
            </a:r>
            <a:r>
              <a:rPr lang="id-ID" sz="3200" dirty="0"/>
              <a:t>p</a:t>
            </a:r>
          </a:p>
          <a:p>
            <a:r>
              <a:rPr lang="id-ID" sz="3200" dirty="0"/>
              <a:t>     </a:t>
            </a:r>
            <a:r>
              <a:rPr lang="fi-FI" sz="3200" dirty="0"/>
              <a:t>$personal[“nama”] =”Salman”;</a:t>
            </a:r>
            <a:endParaRPr lang="id-ID" sz="3200" dirty="0"/>
          </a:p>
          <a:p>
            <a:r>
              <a:rPr lang="fi-FI" sz="3200" dirty="0"/>
              <a:t>   $personal[“kendaraan”] =”Minibus”;</a:t>
            </a:r>
            <a:endParaRPr lang="id-ID" sz="3200" dirty="0"/>
          </a:p>
          <a:p>
            <a:r>
              <a:rPr lang="fi-FI" sz="3200" dirty="0"/>
              <a:t>   $personal[“rumah”] =”Perumnas”;</a:t>
            </a:r>
            <a:endParaRPr lang="id-ID" sz="3200" dirty="0"/>
          </a:p>
          <a:p>
            <a:r>
              <a:rPr lang="fi-FI" sz="3200" dirty="0"/>
              <a:t> </a:t>
            </a:r>
            <a:endParaRPr lang="id-ID" sz="3200" dirty="0"/>
          </a:p>
          <a:p>
            <a:r>
              <a:rPr lang="fi-FI" sz="3200" dirty="0"/>
              <a:t>   Print $personal[“nama”] . “\n”;</a:t>
            </a:r>
            <a:endParaRPr lang="id-ID" sz="3200" dirty="0"/>
          </a:p>
          <a:p>
            <a:r>
              <a:rPr lang="fi-FI" sz="3200" dirty="0"/>
              <a:t>   Print $personal[“kendaraan”] . “\n”;</a:t>
            </a:r>
            <a:endParaRPr lang="id-ID" sz="3200" dirty="0"/>
          </a:p>
          <a:p>
            <a:r>
              <a:rPr lang="fi-FI" sz="3200" dirty="0"/>
              <a:t>   Print $personal[“rumah”].”\n”;</a:t>
            </a:r>
            <a:endParaRPr lang="id-ID" sz="3200" dirty="0"/>
          </a:p>
          <a:p>
            <a:r>
              <a:rPr lang="fi-FI" sz="3200" dirty="0"/>
              <a:t>?&gt;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232656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Count() dan Sizeof()</a:t>
            </a:r>
            <a:endParaRPr lang="id-ID" dirty="0"/>
          </a:p>
        </p:txBody>
      </p:sp>
      <p:sp>
        <p:nvSpPr>
          <p:cNvPr id="4" name="Rectangle 3"/>
          <p:cNvSpPr/>
          <p:nvPr/>
        </p:nvSpPr>
        <p:spPr>
          <a:xfrm>
            <a:off x="838201" y="1215591"/>
            <a:ext cx="10302024" cy="3416320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id-ID" sz="3600" dirty="0"/>
              <a:t>Kedua fungsi ini memiliki kegunaan yang sama, yaitu menghitung jumlah elemen yang dimiliki oleh sebuah array.</a:t>
            </a:r>
          </a:p>
          <a:p>
            <a:pPr algn="just"/>
            <a:r>
              <a:rPr lang="id-ID" sz="3600" dirty="0"/>
              <a:t>Sintaksnya adalah :  </a:t>
            </a:r>
            <a:endParaRPr lang="id-ID" sz="3600" dirty="0" smtClean="0"/>
          </a:p>
          <a:p>
            <a:pPr algn="just"/>
            <a:r>
              <a:rPr lang="id-ID" sz="3600" dirty="0"/>
              <a:t>	</a:t>
            </a:r>
            <a:r>
              <a:rPr lang="id-ID" sz="3600" dirty="0" smtClean="0"/>
              <a:t>			count</a:t>
            </a:r>
            <a:r>
              <a:rPr lang="id-ID" sz="3600" dirty="0"/>
              <a:t>($array)</a:t>
            </a:r>
          </a:p>
          <a:p>
            <a:pPr algn="just"/>
            <a:r>
              <a:rPr lang="id-ID" sz="3600" dirty="0"/>
              <a:t>                                </a:t>
            </a:r>
            <a:r>
              <a:rPr lang="id-ID" sz="3600" dirty="0" smtClean="0"/>
              <a:t>    </a:t>
            </a:r>
            <a:r>
              <a:rPr lang="id-ID" sz="3600" dirty="0"/>
              <a:t>Sizeof($array)</a:t>
            </a:r>
          </a:p>
        </p:txBody>
      </p:sp>
    </p:spTree>
    <p:extLst>
      <p:ext uri="{BB962C8B-B14F-4D97-AF65-F5344CB8AC3E}">
        <p14:creationId xmlns:p14="http://schemas.microsoft.com/office/powerpoint/2010/main" val="206643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</a:t>
            </a:r>
            <a:r>
              <a:rPr lang="id-ID" dirty="0" smtClean="0"/>
              <a:t>1.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838201" y="1215591"/>
            <a:ext cx="5008807" cy="440120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800" dirty="0"/>
              <a:t>&lt;?php</a:t>
            </a:r>
          </a:p>
          <a:p>
            <a:r>
              <a:rPr lang="id-ID" sz="2800" dirty="0"/>
              <a:t>$a[0] =1;</a:t>
            </a:r>
          </a:p>
          <a:p>
            <a:r>
              <a:rPr lang="id-ID" sz="2800" dirty="0"/>
              <a:t>$a[1] =3;</a:t>
            </a:r>
          </a:p>
          <a:p>
            <a:r>
              <a:rPr lang="id-ID" sz="2800" dirty="0"/>
              <a:t>$a[2] =5;</a:t>
            </a:r>
          </a:p>
          <a:p>
            <a:r>
              <a:rPr lang="id-ID" sz="2800" dirty="0"/>
              <a:t>$jumlah =count($a);</a:t>
            </a:r>
          </a:p>
          <a:p>
            <a:r>
              <a:rPr lang="id-ID" sz="2800" dirty="0"/>
              <a:t>print "Jumlah array a = $jumlah &lt;br&gt;";</a:t>
            </a:r>
          </a:p>
          <a:p>
            <a:r>
              <a:rPr lang="id-ID" sz="2800" dirty="0"/>
              <a:t>// variabel $jumlah akan bernilai 3</a:t>
            </a:r>
          </a:p>
          <a:p>
            <a:r>
              <a:rPr lang="id-ID" sz="2800" dirty="0"/>
              <a:t>$b["buah"] = "semangka";</a:t>
            </a:r>
          </a:p>
        </p:txBody>
      </p:sp>
      <p:sp>
        <p:nvSpPr>
          <p:cNvPr id="2" name="Rectangle 1"/>
          <p:cNvSpPr/>
          <p:nvPr/>
        </p:nvSpPr>
        <p:spPr>
          <a:xfrm>
            <a:off x="6628326" y="1334935"/>
            <a:ext cx="3816439" cy="3970318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800" dirty="0"/>
              <a:t>$b["sayur"] ="wortel";</a:t>
            </a:r>
          </a:p>
          <a:p>
            <a:r>
              <a:rPr lang="id-ID" sz="2800" dirty="0"/>
              <a:t>$b["daging"] ="ayam";</a:t>
            </a:r>
          </a:p>
          <a:p>
            <a:r>
              <a:rPr lang="id-ID" sz="2800" dirty="0"/>
              <a:t>$b["utama"] ="nasi";</a:t>
            </a:r>
          </a:p>
          <a:p>
            <a:r>
              <a:rPr lang="id-ID" sz="2800" dirty="0"/>
              <a:t>$jumlah = sizeof($b);</a:t>
            </a:r>
          </a:p>
          <a:p>
            <a:r>
              <a:rPr lang="id-ID" sz="2800" dirty="0"/>
              <a:t>print "Jumlah array b = $jumlah &lt;br&gt;";</a:t>
            </a:r>
          </a:p>
          <a:p>
            <a:r>
              <a:rPr lang="id-ID" sz="2800" dirty="0"/>
              <a:t>// variabel $jumlah akan bernilai 4</a:t>
            </a:r>
          </a:p>
          <a:p>
            <a:r>
              <a:rPr lang="id-ID" sz="28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86971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</a:t>
            </a:r>
            <a:r>
              <a:rPr lang="id-ID" dirty="0"/>
              <a:t>2</a:t>
            </a:r>
            <a:r>
              <a:rPr lang="id-ID" dirty="0" smtClean="0"/>
              <a:t>.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838201" y="816342"/>
            <a:ext cx="5008807" cy="5262979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800" dirty="0"/>
              <a:t>&lt;html&gt;</a:t>
            </a:r>
            <a:br>
              <a:rPr lang="id-ID" sz="2800" dirty="0"/>
            </a:br>
            <a:r>
              <a:rPr lang="id-ID" sz="2800" dirty="0"/>
              <a:t>&lt;body&gt;</a:t>
            </a:r>
            <a:br>
              <a:rPr lang="id-ID" sz="2800" dirty="0"/>
            </a:br>
            <a:r>
              <a:rPr lang="id-ID" sz="2800" dirty="0"/>
              <a:t/>
            </a:r>
            <a:br>
              <a:rPr lang="id-ID" sz="2800" dirty="0"/>
            </a:br>
            <a:r>
              <a:rPr lang="id-ID" sz="2800" dirty="0"/>
              <a:t>&lt;?php</a:t>
            </a:r>
            <a:br>
              <a:rPr lang="id-ID" sz="2800" dirty="0"/>
            </a:br>
            <a:r>
              <a:rPr lang="id-ID" sz="2800" dirty="0"/>
              <a:t>$x=array("one","two","three");</a:t>
            </a:r>
            <a:br>
              <a:rPr lang="id-ID" sz="2800" dirty="0"/>
            </a:br>
            <a:r>
              <a:rPr lang="id-ID" sz="2800" dirty="0"/>
              <a:t>foreach ($x as $value)</a:t>
            </a:r>
            <a:br>
              <a:rPr lang="id-ID" sz="2800" dirty="0"/>
            </a:br>
            <a:r>
              <a:rPr lang="id-ID" sz="2800" dirty="0"/>
              <a:t>  {</a:t>
            </a:r>
            <a:br>
              <a:rPr lang="id-ID" sz="2800" dirty="0"/>
            </a:br>
            <a:r>
              <a:rPr lang="id-ID" sz="2800" dirty="0"/>
              <a:t>  echo $value . "&lt;br /&gt;";</a:t>
            </a:r>
            <a:br>
              <a:rPr lang="id-ID" sz="2800" dirty="0"/>
            </a:br>
            <a:r>
              <a:rPr lang="id-ID" sz="2800" dirty="0"/>
              <a:t>  }</a:t>
            </a:r>
            <a:br>
              <a:rPr lang="id-ID" sz="2800" dirty="0"/>
            </a:br>
            <a:r>
              <a:rPr lang="id-ID" sz="2800" dirty="0"/>
              <a:t>?&gt;</a:t>
            </a:r>
            <a:br>
              <a:rPr lang="id-ID" sz="2800" dirty="0"/>
            </a:br>
            <a:r>
              <a:rPr lang="id-ID" sz="2800" dirty="0" smtClean="0"/>
              <a:t>&lt;/</a:t>
            </a:r>
            <a:r>
              <a:rPr lang="id-ID" sz="2800" dirty="0"/>
              <a:t>body&gt;</a:t>
            </a:r>
            <a:br>
              <a:rPr lang="id-ID" sz="2800" dirty="0"/>
            </a:br>
            <a:r>
              <a:rPr lang="id-ID" sz="2800" dirty="0"/>
              <a:t>&lt;/html&gt;</a:t>
            </a:r>
          </a:p>
        </p:txBody>
      </p:sp>
      <p:sp>
        <p:nvSpPr>
          <p:cNvPr id="2" name="Rectangle 1"/>
          <p:cNvSpPr/>
          <p:nvPr/>
        </p:nvSpPr>
        <p:spPr>
          <a:xfrm>
            <a:off x="6628326" y="1334935"/>
            <a:ext cx="3816439" cy="3970318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id-ID" sz="2800" dirty="0"/>
              <a:t>$b["sayur"] ="wortel";</a:t>
            </a:r>
          </a:p>
          <a:p>
            <a:r>
              <a:rPr lang="id-ID" sz="2800" dirty="0"/>
              <a:t>$b["daging"] ="ayam";</a:t>
            </a:r>
          </a:p>
          <a:p>
            <a:r>
              <a:rPr lang="id-ID" sz="2800" dirty="0"/>
              <a:t>$b["utama"] ="nasi";</a:t>
            </a:r>
          </a:p>
          <a:p>
            <a:r>
              <a:rPr lang="id-ID" sz="2800" dirty="0"/>
              <a:t>$jumlah = sizeof($b);</a:t>
            </a:r>
          </a:p>
          <a:p>
            <a:r>
              <a:rPr lang="id-ID" sz="2800" dirty="0"/>
              <a:t>print "Jumlah array b = $jumlah &lt;br&gt;";</a:t>
            </a:r>
          </a:p>
          <a:p>
            <a:r>
              <a:rPr lang="id-ID" sz="2800" dirty="0"/>
              <a:t>// variabel $jumlah akan bernilai 4</a:t>
            </a:r>
          </a:p>
          <a:p>
            <a:r>
              <a:rPr lang="id-ID" sz="28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111803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FC0503ED-9D61-454B-8EDA-5B50615338EB}"/>
              </a:ext>
            </a:extLst>
          </p:cNvPr>
          <p:cNvSpPr txBox="1">
            <a:spLocks/>
          </p:cNvSpPr>
          <p:nvPr/>
        </p:nvSpPr>
        <p:spPr>
          <a:xfrm>
            <a:off x="838200" y="-276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dirty="0"/>
              <a:t>Latihan </a:t>
            </a:r>
            <a:r>
              <a:rPr lang="id-ID" dirty="0" smtClean="0"/>
              <a:t>3.</a:t>
            </a:r>
            <a:endParaRPr lang="id-ID" dirty="0"/>
          </a:p>
        </p:txBody>
      </p:sp>
      <p:sp>
        <p:nvSpPr>
          <p:cNvPr id="7" name="Rectangle 6"/>
          <p:cNvSpPr/>
          <p:nvPr/>
        </p:nvSpPr>
        <p:spPr>
          <a:xfrm>
            <a:off x="838201" y="816342"/>
            <a:ext cx="6683061" cy="5262979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id-ID" sz="2800" dirty="0"/>
              <a:t>&lt;?</a:t>
            </a:r>
          </a:p>
          <a:p>
            <a:r>
              <a:rPr lang="id-ID" sz="2800" dirty="0"/>
              <a:t>$UsiaKaryawan["Lisa"] = "28";</a:t>
            </a:r>
          </a:p>
          <a:p>
            <a:r>
              <a:rPr lang="id-ID" sz="2800" dirty="0"/>
              <a:t>$UsiaKaryawan["Jack"] = "16";</a:t>
            </a:r>
          </a:p>
          <a:p>
            <a:r>
              <a:rPr lang="id-ID" sz="2800" dirty="0"/>
              <a:t>$UsiaKaryawan["Ryan"] = "35";</a:t>
            </a:r>
          </a:p>
          <a:p>
            <a:r>
              <a:rPr lang="id-ID" sz="2800" dirty="0"/>
              <a:t>$UsiaKaryawan["Rachel"] = "46";</a:t>
            </a:r>
          </a:p>
          <a:p>
            <a:r>
              <a:rPr lang="id-ID" sz="2800" dirty="0"/>
              <a:t>$UsiaKaryawan["Grace"] = "34";</a:t>
            </a:r>
          </a:p>
          <a:p>
            <a:r>
              <a:rPr lang="id-ID" sz="2800" dirty="0"/>
              <a:t>foreach($UsiaKaryawan as $Nama =&gt; $umur)</a:t>
            </a:r>
          </a:p>
          <a:p>
            <a:r>
              <a:rPr lang="id-ID" sz="2800" dirty="0"/>
              <a:t>{</a:t>
            </a:r>
          </a:p>
          <a:p>
            <a:r>
              <a:rPr lang="id-ID" sz="2800" dirty="0"/>
              <a:t>echo "Nama Karyawan: $Nama, Usia: $umur"." th &lt;br&gt;";</a:t>
            </a:r>
          </a:p>
          <a:p>
            <a:r>
              <a:rPr lang="id-ID" sz="2800" dirty="0"/>
              <a:t>}</a:t>
            </a:r>
          </a:p>
          <a:p>
            <a:r>
              <a:rPr lang="id-ID" sz="28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6086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475AD7-8A07-4659-B9DC-C6D50242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513</Words>
  <Application>Microsoft Office PowerPoint</Application>
  <PresentationFormat>Custom</PresentationFormat>
  <Paragraphs>108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PERTEMUAN  6 BAB V  ARRAY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zainudin</cp:lastModifiedBy>
  <cp:revision>17</cp:revision>
  <dcterms:created xsi:type="dcterms:W3CDTF">2021-08-16T10:58:02Z</dcterms:created>
  <dcterms:modified xsi:type="dcterms:W3CDTF">2021-08-25T16:26:07Z</dcterms:modified>
</cp:coreProperties>
</file>